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DM Sans"/>
      <p:regular r:id="rId201314"/>
    </p:embeddedFont>
    <p:embeddedFont>
      <p:font typeface="DM Sans Medium"/>
      <p:regular r:id="rId201315"/>
    </p:embeddedFont>
    <p:embeddedFont>
      <p:font typeface="DM Sans SemiBold"/>
      <p:regular r:id="rId201316"/>
    </p:embeddedFont>
    <p:embeddedFont>
      <p:font typeface="DM Sans Bold"/>
      <p:regular r:id="rId201317"/>
    </p:embeddedFont>
    <p:embeddedFont>
      <p:font typeface="DM Sans Black"/>
      <p:regular r:id="rId201318"/>
    </p:embeddedFont>
    <p:embeddedFont>
      <p:font typeface="Inter Medium"/>
      <p:regular r:id="rId201319"/>
    </p:embeddedFont>
    <p:embeddedFont>
      <p:font typeface="Inter SemiBold"/>
      <p:regular r:id="rId201320"/>
    </p:embeddedFont>
    <p:embeddedFont>
      <p:font typeface="Inter Bold"/>
      <p:regular r:id="rId201321"/>
    </p:embeddedFont>
    <p:embeddedFont>
      <p:font typeface="Inter"/>
      <p:regular r:id="rId201322"/>
    </p:embeddedFont>
    <p:embeddedFont>
      <p:font typeface="Inter Black"/>
      <p:regular r:id="rId2013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E2DB"/>
          </a:solidFill>
          <a:ln/>
        </p:spPr>
      </p:sp>
      <p:sp>
        <p:nvSpPr>
          <p:cNvPr id="3" name="Shape 1"/>
          <p:cNvSpPr/>
          <p:nvPr/>
        </p:nvSpPr>
        <p:spPr>
          <a:xfrm>
            <a:off x="0" y="0"/>
            <a:ext cx="12191695" cy="68580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4-2.pn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3.png"/><Relationship Id="rId6" Type="http://schemas.openxmlformats.org/officeDocument/2006/relationships/image" Target="../media/image-8-4.sv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7-8.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89038"/>
            <a:ext cx="6296860" cy="590649"/>
          </a:xfrm>
          <a:prstGeom prst="rect">
            <a:avLst/>
          </a:prstGeom>
          <a:noFill/>
          <a:ln/>
        </p:spPr>
        <p:txBody>
          <a:bodyPr wrap="none" lIns="0" tIns="0" rIns="0" bIns="0" rtlCol="0" anchor="t"/>
          <a:lstStyle/>
          <a:p>
            <a:pPr algn="l" indent="0" marL="0">
              <a:lnSpc>
                <a:spcPct val="104000"/>
              </a:lnSpc>
              <a:buNone/>
            </a:pPr>
            <a:r>
              <a:rPr lang="en-US" sz="3700" dirty="0">
                <a:solidFill>
                  <a:srgbClr val="161613"/>
                </a:solidFill>
                <a:latin typeface="DM Sans Medium" pitchFamily="34" charset="0"/>
                <a:ea typeface="DM Sans Medium" pitchFamily="34" charset="-122"/>
                <a:cs typeface="DM Sans Medium" pitchFamily="34" charset="-120"/>
              </a:rPr>
              <a:t>FieldOps AI</a:t>
            </a:r>
            <a:endParaRPr lang="en-US" sz="3700" dirty="0"/>
          </a:p>
        </p:txBody>
      </p:sp>
      <p:sp>
        <p:nvSpPr>
          <p:cNvPr id="4" name="Text 1"/>
          <p:cNvSpPr/>
          <p:nvPr/>
        </p:nvSpPr>
        <p:spPr>
          <a:xfrm>
            <a:off x="661475" y="2655292"/>
            <a:ext cx="6296860" cy="295275"/>
          </a:xfrm>
          <a:prstGeom prst="rect">
            <a:avLst/>
          </a:prstGeom>
          <a:noFill/>
          <a:ln/>
        </p:spPr>
        <p:txBody>
          <a:bodyPr wrap="none" lIns="0" tIns="0" rIns="0" bIns="0" rtlCol="0" anchor="t"/>
          <a:lstStyle/>
          <a:p>
            <a:pPr algn="l" indent="0" marL="0">
              <a:lnSpc>
                <a:spcPct val="104000"/>
              </a:lnSpc>
              <a:buNone/>
            </a:pPr>
            <a:r>
              <a:rPr lang="en-US" sz="1850" dirty="0">
                <a:solidFill>
                  <a:srgbClr val="161613"/>
                </a:solidFill>
                <a:latin typeface="DM Sans Medium" pitchFamily="34" charset="0"/>
                <a:ea typeface="DM Sans Medium" pitchFamily="34" charset="-122"/>
                <a:cs typeface="DM Sans Medium" pitchFamily="34" charset="-120"/>
              </a:rPr>
              <a:t>Context-Aware Field Service Management System</a:t>
            </a:r>
            <a:endParaRPr lang="en-US" sz="1850" dirty="0"/>
          </a:p>
        </p:txBody>
      </p:sp>
      <p:sp>
        <p:nvSpPr>
          <p:cNvPr id="5" name="Text 2"/>
          <p:cNvSpPr/>
          <p:nvPr/>
        </p:nvSpPr>
        <p:spPr>
          <a:xfrm>
            <a:off x="661475" y="3234035"/>
            <a:ext cx="6296860" cy="1634927"/>
          </a:xfrm>
          <a:prstGeom prst="rect">
            <a:avLst/>
          </a:prstGeom>
          <a:noFill/>
          <a:ln/>
        </p:spPr>
        <p:txBody>
          <a:bodyPr wrap="square" lIns="0" tIns="0" rIns="0" bIns="0" rtlCol="0" anchor="t"/>
          <a:lstStyle/>
          <a:p>
            <a:pPr algn="l" indent="0" marL="0">
              <a:lnSpc>
                <a:spcPct val="133000"/>
              </a:lnSpc>
              <a:spcAft>
                <a:spcPts val="1650"/>
              </a:spcAft>
              <a:buNone/>
            </a:pPr>
            <a:r>
              <a:rPr lang="en-US" sz="1450" dirty="0">
                <a:solidFill>
                  <a:srgbClr val="161613"/>
                </a:solidFill>
                <a:latin typeface="Inter" pitchFamily="34" charset="0"/>
                <a:ea typeface="Inter" pitchFamily="34" charset="-122"/>
                <a:cs typeface="Inter" pitchFamily="34" charset="-120"/>
              </a:rPr>
              <a:t>     Review 1 – Project Progress Presentation   </a:t>
            </a:r>
            <a:endParaRPr lang="en-US" sz="1450" dirty="0"/>
          </a:p>
          <a:p>
            <a:pPr algn="l" indent="0" marL="0">
              <a:lnSpc>
                <a:spcPct val="133000"/>
              </a:lnSpc>
              <a:spcAft>
                <a:spcPts val="1650"/>
              </a:spcAft>
              <a:buNone/>
            </a:pPr>
            <a:r>
              <a:rPr lang="en-US" sz="1450" dirty="0">
                <a:solidFill>
                  <a:srgbClr val="161613"/>
                </a:solidFill>
                <a:latin typeface="Inter" pitchFamily="34" charset="0"/>
                <a:ea typeface="Inter" pitchFamily="34" charset="-122"/>
                <a:cs typeface="Inter" pitchFamily="34" charset="-120"/>
              </a:rPr>
              <a:t>     From operational pain to a working software product.   </a:t>
            </a:r>
            <a:endParaRPr lang="en-US" sz="1450" dirty="0"/>
          </a:p>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 Author: MANOJKUMAR V • Department: Artificial Intelligence &amp; Data Science • Section: B • Register No.: 24102095</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89074"/>
            <a:ext cx="6296860" cy="452239"/>
          </a:xfrm>
          <a:prstGeom prst="rect">
            <a:avLst/>
          </a:prstGeom>
          <a:noFill/>
          <a:ln/>
        </p:spPr>
        <p:txBody>
          <a:bodyPr wrap="none" lIns="0" tIns="0" rIns="0" bIns="0" rtlCol="0" anchor="t"/>
          <a:lstStyle/>
          <a:p>
            <a:pPr algn="l" indent="0" marL="0">
              <a:lnSpc>
                <a:spcPct val="104000"/>
              </a:lnSpc>
              <a:buNone/>
            </a:pPr>
            <a:r>
              <a:rPr lang="en-US" sz="2800" dirty="0">
                <a:solidFill>
                  <a:srgbClr val="161613"/>
                </a:solidFill>
                <a:latin typeface="DM Sans Medium" pitchFamily="34" charset="0"/>
                <a:ea typeface="DM Sans Medium" pitchFamily="34" charset="-122"/>
                <a:cs typeface="DM Sans Medium" pitchFamily="34" charset="-120"/>
              </a:rPr>
              <a:t>The Problem</a:t>
            </a:r>
            <a:endParaRPr lang="en-US" sz="2800" dirty="0"/>
          </a:p>
        </p:txBody>
      </p:sp>
      <p:sp>
        <p:nvSpPr>
          <p:cNvPr id="4" name="Text 1"/>
          <p:cNvSpPr/>
          <p:nvPr/>
        </p:nvSpPr>
        <p:spPr>
          <a:xfrm>
            <a:off x="661475" y="1307505"/>
            <a:ext cx="6296860" cy="613172"/>
          </a:xfrm>
          <a:prstGeom prst="rect">
            <a:avLst/>
          </a:prstGeom>
          <a:noFill/>
          <a:ln/>
        </p:spPr>
        <p:txBody>
          <a:bodyPr wrap="square" lIns="0" tIns="0" rIns="0" bIns="0" rtlCol="0" anchor="t">
            <a:normAutofit/>
          </a:bodyPr>
          <a:lstStyle/>
          <a:p>
            <a:pPr algn="l" indent="0" marL="0">
              <a:lnSpc>
                <a:spcPct val="118000"/>
              </a:lnSpc>
              <a:buNone/>
            </a:pPr>
            <a:r>
              <a:rPr lang="en-US" sz="1100" dirty="0">
                <a:solidFill>
                  <a:srgbClr val="161613"/>
                </a:solidFill>
                <a:latin typeface="Inter" pitchFamily="34" charset="0"/>
                <a:ea typeface="Inter" pitchFamily="34" charset="-122"/>
                <a:cs typeface="Inter" pitchFamily="34" charset="-120"/>
              </a:rPr>
              <a:t>     Traditional dispatching relies on static assumptions and limited visibility. Technicians vary by skill and availability, while ETAs break down under changing conditions (weather, traffic, events, road restrictions). Dispatch decisions are difficult to trust without traceability.   </a:t>
            </a:r>
            <a:endParaRPr lang="en-US" sz="11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045295"/>
            <a:ext cx="6296860" cy="1028700"/>
          </a:xfrm>
          <a:prstGeom prst="rect">
            <a:avLst/>
          </a:prstGeom>
        </p:spPr>
      </p:pic>
      <p:sp>
        <p:nvSpPr>
          <p:cNvPr id="6" name="Text 2"/>
          <p:cNvSpPr/>
          <p:nvPr/>
        </p:nvSpPr>
        <p:spPr>
          <a:xfrm>
            <a:off x="901380" y="2209006"/>
            <a:ext cx="5893248" cy="226020"/>
          </a:xfrm>
          <a:prstGeom prst="rect">
            <a:avLst/>
          </a:prstGeom>
          <a:noFill/>
          <a:ln/>
        </p:spPr>
        <p:txBody>
          <a:bodyPr wrap="none" lIns="0" tIns="0" rIns="0" bIns="0" rtlCol="0" anchor="t"/>
          <a:lstStyle/>
          <a:p>
            <a:pPr algn="l" indent="0" marL="0">
              <a:lnSpc>
                <a:spcPct val="104000"/>
              </a:lnSpc>
              <a:buNone/>
            </a:pPr>
            <a:r>
              <a:rPr lang="en-US" sz="1400" dirty="0">
                <a:solidFill>
                  <a:srgbClr val="161613"/>
                </a:solidFill>
                <a:latin typeface="DM Sans Medium" pitchFamily="34" charset="0"/>
                <a:ea typeface="DM Sans Medium" pitchFamily="34" charset="-122"/>
                <a:cs typeface="DM Sans Medium" pitchFamily="34" charset="-120"/>
              </a:rPr>
              <a:t>Operational Gaps</a:t>
            </a:r>
            <a:endParaRPr lang="en-US" sz="1400" dirty="0"/>
          </a:p>
        </p:txBody>
      </p:sp>
      <p:sp>
        <p:nvSpPr>
          <p:cNvPr id="7" name="Text 3"/>
          <p:cNvSpPr/>
          <p:nvPr/>
        </p:nvSpPr>
        <p:spPr>
          <a:xfrm>
            <a:off x="901380" y="2501503"/>
            <a:ext cx="5893248" cy="408781"/>
          </a:xfrm>
          <a:prstGeom prst="rect">
            <a:avLst/>
          </a:prstGeom>
          <a:noFill/>
          <a:ln/>
        </p:spPr>
        <p:txBody>
          <a:bodyPr wrap="square" lIns="0" tIns="0" rIns="0" bIns="0" rtlCol="0" anchor="t">
            <a:normAutofit/>
          </a:bodyPr>
          <a:lstStyle/>
          <a:p>
            <a:pPr algn="l" indent="0" marL="0">
              <a:lnSpc>
                <a:spcPct val="118000"/>
              </a:lnSpc>
              <a:buNone/>
            </a:pPr>
            <a:r>
              <a:rPr lang="en-US" sz="1100" dirty="0">
                <a:solidFill>
                  <a:srgbClr val="161613"/>
                </a:solidFill>
                <a:latin typeface="Inter" pitchFamily="34" charset="0"/>
                <a:ea typeface="Inter" pitchFamily="34" charset="-122"/>
                <a:cs typeface="Inter" pitchFamily="34" charset="-120"/>
              </a:rPr>
              <a:t>Unreliable travel-time, poor situational awareness, manual overrides without accountability.</a:t>
            </a:r>
            <a:endParaRPr lang="en-US" sz="11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184723"/>
            <a:ext cx="6296860" cy="1028700"/>
          </a:xfrm>
          <a:prstGeom prst="rect">
            <a:avLst/>
          </a:prstGeom>
        </p:spPr>
      </p:pic>
      <p:sp>
        <p:nvSpPr>
          <p:cNvPr id="9" name="Text 4"/>
          <p:cNvSpPr/>
          <p:nvPr/>
        </p:nvSpPr>
        <p:spPr>
          <a:xfrm>
            <a:off x="901380" y="3348434"/>
            <a:ext cx="5893248" cy="226020"/>
          </a:xfrm>
          <a:prstGeom prst="rect">
            <a:avLst/>
          </a:prstGeom>
          <a:noFill/>
          <a:ln/>
        </p:spPr>
        <p:txBody>
          <a:bodyPr wrap="none" lIns="0" tIns="0" rIns="0" bIns="0" rtlCol="0" anchor="t"/>
          <a:lstStyle/>
          <a:p>
            <a:pPr algn="l" indent="0" marL="0">
              <a:lnSpc>
                <a:spcPct val="104000"/>
              </a:lnSpc>
              <a:buNone/>
            </a:pPr>
            <a:r>
              <a:rPr lang="en-US" sz="1400" dirty="0">
                <a:solidFill>
                  <a:srgbClr val="161613"/>
                </a:solidFill>
                <a:latin typeface="DM Sans Medium" pitchFamily="34" charset="0"/>
                <a:ea typeface="DM Sans Medium" pitchFamily="34" charset="-122"/>
                <a:cs typeface="DM Sans Medium" pitchFamily="34" charset="-120"/>
              </a:rPr>
              <a:t>Dispatch Challenges</a:t>
            </a:r>
            <a:endParaRPr lang="en-US" sz="1400" dirty="0"/>
          </a:p>
        </p:txBody>
      </p:sp>
      <p:sp>
        <p:nvSpPr>
          <p:cNvPr id="10" name="Text 5"/>
          <p:cNvSpPr/>
          <p:nvPr/>
        </p:nvSpPr>
        <p:spPr>
          <a:xfrm>
            <a:off x="901380" y="3640931"/>
            <a:ext cx="5893248" cy="408781"/>
          </a:xfrm>
          <a:prstGeom prst="rect">
            <a:avLst/>
          </a:prstGeom>
          <a:noFill/>
          <a:ln/>
        </p:spPr>
        <p:txBody>
          <a:bodyPr wrap="square" lIns="0" tIns="0" rIns="0" bIns="0" rtlCol="0" anchor="t">
            <a:normAutofit/>
          </a:bodyPr>
          <a:lstStyle/>
          <a:p>
            <a:pPr algn="l" indent="0" marL="0">
              <a:lnSpc>
                <a:spcPct val="118000"/>
              </a:lnSpc>
              <a:buNone/>
            </a:pPr>
            <a:r>
              <a:rPr lang="en-US" sz="1100" dirty="0">
                <a:solidFill>
                  <a:srgbClr val="161613"/>
                </a:solidFill>
                <a:latin typeface="Inter" pitchFamily="34" charset="0"/>
                <a:ea typeface="Inter" pitchFamily="34" charset="-122"/>
                <a:cs typeface="Inter" pitchFamily="34" charset="-120"/>
              </a:rPr>
              <a:t>Assigning the right technician at the right time is error-prone; planners need contextual ETAs before committing.</a:t>
            </a:r>
            <a:endParaRPr lang="en-US" sz="11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324152"/>
            <a:ext cx="6296860" cy="1028700"/>
          </a:xfrm>
          <a:prstGeom prst="rect">
            <a:avLst/>
          </a:prstGeom>
        </p:spPr>
      </p:pic>
      <p:sp>
        <p:nvSpPr>
          <p:cNvPr id="12" name="Text 6"/>
          <p:cNvSpPr/>
          <p:nvPr/>
        </p:nvSpPr>
        <p:spPr>
          <a:xfrm>
            <a:off x="901380" y="4487863"/>
            <a:ext cx="5893248" cy="226020"/>
          </a:xfrm>
          <a:prstGeom prst="rect">
            <a:avLst/>
          </a:prstGeom>
          <a:noFill/>
          <a:ln/>
        </p:spPr>
        <p:txBody>
          <a:bodyPr wrap="none" lIns="0" tIns="0" rIns="0" bIns="0" rtlCol="0" anchor="t"/>
          <a:lstStyle/>
          <a:p>
            <a:pPr algn="l" indent="0" marL="0">
              <a:lnSpc>
                <a:spcPct val="104000"/>
              </a:lnSpc>
              <a:buNone/>
            </a:pPr>
            <a:r>
              <a:rPr lang="en-US" sz="1400" dirty="0">
                <a:solidFill>
                  <a:srgbClr val="161613"/>
                </a:solidFill>
                <a:latin typeface="DM Sans Medium" pitchFamily="34" charset="0"/>
                <a:ea typeface="DM Sans Medium" pitchFamily="34" charset="-122"/>
                <a:cs typeface="DM Sans Medium" pitchFamily="34" charset="-120"/>
              </a:rPr>
              <a:t>Audit &amp; Compliance</a:t>
            </a:r>
            <a:endParaRPr lang="en-US" sz="1400" dirty="0"/>
          </a:p>
        </p:txBody>
      </p:sp>
      <p:sp>
        <p:nvSpPr>
          <p:cNvPr id="13" name="Text 7"/>
          <p:cNvSpPr/>
          <p:nvPr/>
        </p:nvSpPr>
        <p:spPr>
          <a:xfrm>
            <a:off x="901380" y="4780359"/>
            <a:ext cx="5893248" cy="408781"/>
          </a:xfrm>
          <a:prstGeom prst="rect">
            <a:avLst/>
          </a:prstGeom>
          <a:noFill/>
          <a:ln/>
        </p:spPr>
        <p:txBody>
          <a:bodyPr wrap="square" lIns="0" tIns="0" rIns="0" bIns="0" rtlCol="0" anchor="t">
            <a:normAutofit/>
          </a:bodyPr>
          <a:lstStyle/>
          <a:p>
            <a:pPr algn="l" indent="0" marL="0">
              <a:lnSpc>
                <a:spcPct val="118000"/>
              </a:lnSpc>
              <a:buNone/>
            </a:pPr>
            <a:r>
              <a:rPr lang="en-US" sz="1100" dirty="0">
                <a:solidFill>
                  <a:srgbClr val="161613"/>
                </a:solidFill>
                <a:latin typeface="Inter" pitchFamily="34" charset="0"/>
                <a:ea typeface="Inter" pitchFamily="34" charset="-122"/>
                <a:cs typeface="Inter" pitchFamily="34" charset="-120"/>
              </a:rPr>
              <a:t>Changes must be traceable: who, why, when, and what changed needs an auditable trail.</a:t>
            </a:r>
            <a:endParaRPr lang="en-US" sz="1100" dirty="0"/>
          </a:p>
        </p:txBody>
      </p:sp>
      <p:sp>
        <p:nvSpPr>
          <p:cNvPr id="14" name="Shape 8"/>
          <p:cNvSpPr/>
          <p:nvPr/>
        </p:nvSpPr>
        <p:spPr>
          <a:xfrm>
            <a:off x="661475" y="5477470"/>
            <a:ext cx="6296860" cy="691455"/>
          </a:xfrm>
          <a:prstGeom prst="roundRect">
            <a:avLst>
              <a:gd name="adj" fmla="val 3139"/>
            </a:avLst>
          </a:prstGeom>
          <a:solidFill>
            <a:srgbClr val="E3E3E8"/>
          </a:solidFill>
          <a:ln/>
        </p:spPr>
      </p:sp>
      <p:pic>
        <p:nvPicPr>
          <p:cNvPr id="15" name="Image 4" descr="preencoded.png">    </p:cNvPr>
          <p:cNvPicPr>
            <a:picLocks noChangeAspect="1"/>
          </p:cNvPicPr>
          <p:nvPr/>
        </p:nvPicPr>
        <p:blipFill>
          <a:blip r:embed="rId8"/>
          <a:stretch>
            <a:fillRect/>
          </a:stretch>
        </p:blipFill>
        <p:spPr>
          <a:xfrm>
            <a:off x="806132" y="5637411"/>
            <a:ext cx="180871" cy="144661"/>
          </a:xfrm>
          <a:prstGeom prst="rect">
            <a:avLst/>
          </a:prstGeom>
        </p:spPr>
      </p:pic>
      <p:sp>
        <p:nvSpPr>
          <p:cNvPr id="16" name="Text 9"/>
          <p:cNvSpPr/>
          <p:nvPr/>
        </p:nvSpPr>
        <p:spPr>
          <a:xfrm>
            <a:off x="1131661" y="5624314"/>
            <a:ext cx="5682016" cy="408781"/>
          </a:xfrm>
          <a:prstGeom prst="rect">
            <a:avLst/>
          </a:prstGeom>
          <a:noFill/>
          <a:ln/>
        </p:spPr>
        <p:txBody>
          <a:bodyPr wrap="square" lIns="0" tIns="0" rIns="0" bIns="0" rtlCol="0" anchor="t">
            <a:normAutofit/>
          </a:bodyPr>
          <a:lstStyle/>
          <a:p>
            <a:pPr algn="l" indent="0" marL="0">
              <a:lnSpc>
                <a:spcPct val="118000"/>
              </a:lnSpc>
              <a:buNone/>
            </a:pPr>
            <a:r>
              <a:rPr lang="en-US" sz="1100" dirty="0">
                <a:solidFill>
                  <a:srgbClr val="000000"/>
                </a:solidFill>
                <a:latin typeface="Inter" pitchFamily="34" charset="0"/>
                <a:ea typeface="Inter" pitchFamily="34" charset="-122"/>
                <a:cs typeface="Inter" pitchFamily="34" charset="-120"/>
              </a:rPr>
              <a:t> Need: Combine technician skills, execution state, contextual ETA, and auditable decisions into one platform.</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427857"/>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161613"/>
                </a:solidFill>
                <a:latin typeface="DM Sans Medium" pitchFamily="34" charset="0"/>
                <a:ea typeface="DM Sans Medium" pitchFamily="34" charset="-122"/>
                <a:cs typeface="DM Sans Medium" pitchFamily="34" charset="-120"/>
              </a:rPr>
              <a:t>Proposed Solution: FieldOps AI</a:t>
            </a:r>
            <a:endParaRPr lang="en-US" sz="3700" dirty="0"/>
          </a:p>
        </p:txBody>
      </p:sp>
      <p:sp>
        <p:nvSpPr>
          <p:cNvPr id="3" name="Text 1"/>
          <p:cNvSpPr/>
          <p:nvPr/>
        </p:nvSpPr>
        <p:spPr>
          <a:xfrm>
            <a:off x="661475" y="2396530"/>
            <a:ext cx="1086874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     A context-aware Field Service Management platform that merges role-based workspaces, technician &amp; skills management, GPS-enabled job handling, and a context-aware ETA engine with built-in auditability.   </a:t>
            </a:r>
            <a:endParaRPr lang="en-US" sz="1450" dirty="0"/>
          </a:p>
        </p:txBody>
      </p:sp>
      <p:pic>
        <p:nvPicPr>
          <p:cNvPr id="4" name="Image 0" descr="preencoded.png">    </p:cNvPr>
          <p:cNvPicPr>
            <a:picLocks noChangeAspect="1"/>
          </p:cNvPicPr>
          <p:nvPr/>
        </p:nvPicPr>
        <p:blipFill>
          <a:blip r:embed="rId1"/>
          <a:stretch>
            <a:fillRect/>
          </a:stretch>
        </p:blipFill>
        <p:spPr>
          <a:xfrm>
            <a:off x="661475" y="3213993"/>
            <a:ext cx="1004962" cy="621109"/>
          </a:xfrm>
          <a:prstGeom prst="rect">
            <a:avLst/>
          </a:prstGeom>
        </p:spPr>
      </p:pic>
      <p:sp>
        <p:nvSpPr>
          <p:cNvPr id="5" name="Text 2"/>
          <p:cNvSpPr/>
          <p:nvPr/>
        </p:nvSpPr>
        <p:spPr>
          <a:xfrm>
            <a:off x="1902670" y="3213993"/>
            <a:ext cx="2224230"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161613"/>
                </a:solidFill>
                <a:latin typeface="DM Sans Medium" pitchFamily="34" charset="0"/>
                <a:ea typeface="DM Sans Medium" pitchFamily="34" charset="-122"/>
                <a:cs typeface="DM Sans Medium" pitchFamily="34" charset="-120"/>
              </a:rPr>
              <a:t>Role-based Workspaces</a:t>
            </a:r>
            <a:endParaRPr lang="en-US" sz="1850" dirty="0"/>
          </a:p>
        </p:txBody>
      </p:sp>
      <p:sp>
        <p:nvSpPr>
          <p:cNvPr id="6" name="Text 3"/>
          <p:cNvSpPr/>
          <p:nvPr/>
        </p:nvSpPr>
        <p:spPr>
          <a:xfrm>
            <a:off x="1902670" y="3917950"/>
            <a:ext cx="2224230"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Administrator, Dispatcher, Technician views tuned to responsibilities and permissions.</a:t>
            </a:r>
            <a:endParaRPr lang="en-US" sz="1450" dirty="0"/>
          </a:p>
        </p:txBody>
      </p:sp>
      <p:pic>
        <p:nvPicPr>
          <p:cNvPr id="7" name="Image 1" descr="preencoded.png">    </p:cNvPr>
          <p:cNvPicPr>
            <a:picLocks noChangeAspect="1"/>
          </p:cNvPicPr>
          <p:nvPr/>
        </p:nvPicPr>
        <p:blipFill>
          <a:blip r:embed="rId2"/>
          <a:stretch>
            <a:fillRect/>
          </a:stretch>
        </p:blipFill>
        <p:spPr>
          <a:xfrm>
            <a:off x="4363135" y="3213993"/>
            <a:ext cx="1004962" cy="621109"/>
          </a:xfrm>
          <a:prstGeom prst="rect">
            <a:avLst/>
          </a:prstGeom>
        </p:spPr>
      </p:pic>
      <p:sp>
        <p:nvSpPr>
          <p:cNvPr id="8" name="Text 4"/>
          <p:cNvSpPr/>
          <p:nvPr/>
        </p:nvSpPr>
        <p:spPr>
          <a:xfrm>
            <a:off x="5604330" y="3213993"/>
            <a:ext cx="2224230"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161613"/>
                </a:solidFill>
                <a:latin typeface="DM Sans Medium" pitchFamily="34" charset="0"/>
                <a:ea typeface="DM Sans Medium" pitchFamily="34" charset="-122"/>
                <a:cs typeface="DM Sans Medium" pitchFamily="34" charset="-120"/>
              </a:rPr>
              <a:t>Contextual ETA Engine</a:t>
            </a:r>
            <a:endParaRPr lang="en-US" sz="1850" dirty="0"/>
          </a:p>
        </p:txBody>
      </p:sp>
      <p:sp>
        <p:nvSpPr>
          <p:cNvPr id="9" name="Text 5"/>
          <p:cNvSpPr/>
          <p:nvPr/>
        </p:nvSpPr>
        <p:spPr>
          <a:xfrm>
            <a:off x="5604330" y="3917950"/>
            <a:ext cx="2224230"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Combines baseline routing with weather, traffic, events and local restrictions to produce actionable ETAs.</a:t>
            </a:r>
            <a:endParaRPr lang="en-US" sz="1450" dirty="0"/>
          </a:p>
        </p:txBody>
      </p:sp>
      <p:pic>
        <p:nvPicPr>
          <p:cNvPr id="10" name="Image 2" descr="preencoded.png">    </p:cNvPr>
          <p:cNvPicPr>
            <a:picLocks noChangeAspect="1"/>
          </p:cNvPicPr>
          <p:nvPr/>
        </p:nvPicPr>
        <p:blipFill>
          <a:blip r:embed="rId3"/>
          <a:stretch>
            <a:fillRect/>
          </a:stretch>
        </p:blipFill>
        <p:spPr>
          <a:xfrm>
            <a:off x="8064794" y="3213993"/>
            <a:ext cx="1004962" cy="621109"/>
          </a:xfrm>
          <a:prstGeom prst="rect">
            <a:avLst/>
          </a:prstGeom>
        </p:spPr>
      </p:pic>
      <p:sp>
        <p:nvSpPr>
          <p:cNvPr id="11" name="Text 6"/>
          <p:cNvSpPr/>
          <p:nvPr/>
        </p:nvSpPr>
        <p:spPr>
          <a:xfrm>
            <a:off x="9305990" y="3213993"/>
            <a:ext cx="2224230" cy="295275"/>
          </a:xfrm>
          <a:prstGeom prst="rect">
            <a:avLst/>
          </a:prstGeom>
          <a:noFill/>
          <a:ln/>
        </p:spPr>
        <p:txBody>
          <a:bodyPr wrap="none" lIns="0" tIns="0" rIns="0" bIns="0" rtlCol="0" anchor="t"/>
          <a:lstStyle/>
          <a:p>
            <a:pPr algn="l" indent="0" marL="0">
              <a:lnSpc>
                <a:spcPct val="104000"/>
              </a:lnSpc>
              <a:buNone/>
            </a:pPr>
            <a:r>
              <a:rPr lang="en-US" sz="1850" dirty="0">
                <a:solidFill>
                  <a:srgbClr val="161613"/>
                </a:solidFill>
                <a:latin typeface="DM Sans Medium" pitchFamily="34" charset="0"/>
                <a:ea typeface="DM Sans Medium" pitchFamily="34" charset="-122"/>
                <a:cs typeface="DM Sans Medium" pitchFamily="34" charset="-120"/>
              </a:rPr>
              <a:t>Audit &amp; Overrides</a:t>
            </a:r>
            <a:endParaRPr lang="en-US" sz="1850" dirty="0"/>
          </a:p>
        </p:txBody>
      </p:sp>
      <p:sp>
        <p:nvSpPr>
          <p:cNvPr id="12" name="Text 7"/>
          <p:cNvSpPr/>
          <p:nvPr/>
        </p:nvSpPr>
        <p:spPr>
          <a:xfrm>
            <a:off x="9305990" y="3622675"/>
            <a:ext cx="2224230"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Dispatcher overrides require reason and authorization; every change is recorded for traceability.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62967"/>
            <a:ext cx="10868745" cy="563066"/>
          </a:xfrm>
          <a:prstGeom prst="rect">
            <a:avLst/>
          </a:prstGeom>
          <a:noFill/>
          <a:ln/>
        </p:spPr>
        <p:txBody>
          <a:bodyPr wrap="none" lIns="0" tIns="0" rIns="0" bIns="0" rtlCol="0" anchor="t"/>
          <a:lstStyle/>
          <a:p>
            <a:pPr algn="l" indent="0" marL="0">
              <a:lnSpc>
                <a:spcPct val="104000"/>
              </a:lnSpc>
              <a:buNone/>
            </a:pPr>
            <a:r>
              <a:rPr lang="en-US" sz="3500" dirty="0">
                <a:solidFill>
                  <a:srgbClr val="161613"/>
                </a:solidFill>
                <a:latin typeface="DM Sans Medium" pitchFamily="34" charset="0"/>
                <a:ea typeface="DM Sans Medium" pitchFamily="34" charset="-122"/>
                <a:cs typeface="DM Sans Medium" pitchFamily="34" charset="-120"/>
              </a:rPr>
              <a:t>System Architecture</a:t>
            </a:r>
            <a:endParaRPr lang="en-US" sz="3500" dirty="0"/>
          </a:p>
        </p:txBody>
      </p:sp>
      <p:pic>
        <p:nvPicPr>
          <p:cNvPr id="3" name="Image 0" descr="preencoded.png">    </p:cNvPr>
          <p:cNvPicPr>
            <a:picLocks noChangeAspect="1"/>
          </p:cNvPicPr>
          <p:nvPr/>
        </p:nvPicPr>
        <p:blipFill>
          <a:blip r:embed="rId1"/>
          <a:stretch>
            <a:fillRect/>
          </a:stretch>
        </p:blipFill>
        <p:spPr>
          <a:xfrm>
            <a:off x="661475" y="2522041"/>
            <a:ext cx="4649175" cy="2634555"/>
          </a:xfrm>
          <a:prstGeom prst="rect">
            <a:avLst/>
          </a:prstGeom>
        </p:spPr>
      </p:pic>
      <p:sp>
        <p:nvSpPr>
          <p:cNvPr id="4" name="Text 1"/>
          <p:cNvSpPr/>
          <p:nvPr/>
        </p:nvSpPr>
        <p:spPr>
          <a:xfrm>
            <a:off x="5756528" y="1555254"/>
            <a:ext cx="5779943" cy="281484"/>
          </a:xfrm>
          <a:prstGeom prst="rect">
            <a:avLst/>
          </a:prstGeom>
          <a:noFill/>
          <a:ln/>
        </p:spPr>
        <p:txBody>
          <a:bodyPr wrap="none" lIns="0" tIns="0" rIns="0" bIns="0" rtlCol="0" anchor="t"/>
          <a:lstStyle/>
          <a:p>
            <a:pPr algn="l" indent="0" marL="0">
              <a:lnSpc>
                <a:spcPct val="104000"/>
              </a:lnSpc>
              <a:buNone/>
            </a:pPr>
            <a:r>
              <a:rPr lang="en-US" sz="1750" dirty="0">
                <a:solidFill>
                  <a:srgbClr val="161613"/>
                </a:solidFill>
                <a:latin typeface="DM Sans Medium" pitchFamily="34" charset="0"/>
                <a:ea typeface="DM Sans Medium" pitchFamily="34" charset="-122"/>
                <a:cs typeface="DM Sans Medium" pitchFamily="34" charset="-120"/>
              </a:rPr>
              <a:t>Frontend</a:t>
            </a:r>
            <a:endParaRPr lang="en-US" sz="1750" dirty="0"/>
          </a:p>
        </p:txBody>
      </p:sp>
      <p:sp>
        <p:nvSpPr>
          <p:cNvPr id="5" name="Text 2"/>
          <p:cNvSpPr/>
          <p:nvPr/>
        </p:nvSpPr>
        <p:spPr>
          <a:xfrm>
            <a:off x="5756528" y="2008386"/>
            <a:ext cx="5779943" cy="562967"/>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161613"/>
                </a:solidFill>
                <a:latin typeface="Inter" pitchFamily="34" charset="0"/>
                <a:ea typeface="Inter" pitchFamily="34" charset="-122"/>
                <a:cs typeface="Inter" pitchFamily="34" charset="-120"/>
              </a:rPr>
              <a:t>React 19 • TypeScript • Vite • Tailwind • React Router • TanStack Query</a:t>
            </a:r>
            <a:endParaRPr lang="en-US" sz="1400" dirty="0"/>
          </a:p>
        </p:txBody>
      </p:sp>
      <p:sp>
        <p:nvSpPr>
          <p:cNvPr id="6" name="Text 3"/>
          <p:cNvSpPr/>
          <p:nvPr/>
        </p:nvSpPr>
        <p:spPr>
          <a:xfrm>
            <a:off x="5756528" y="2743002"/>
            <a:ext cx="5779943" cy="281484"/>
          </a:xfrm>
          <a:prstGeom prst="rect">
            <a:avLst/>
          </a:prstGeom>
          <a:noFill/>
          <a:ln/>
        </p:spPr>
        <p:txBody>
          <a:bodyPr wrap="none" lIns="0" tIns="0" rIns="0" bIns="0" rtlCol="0" anchor="t"/>
          <a:lstStyle/>
          <a:p>
            <a:pPr algn="l" indent="0" marL="0">
              <a:lnSpc>
                <a:spcPct val="104000"/>
              </a:lnSpc>
              <a:buNone/>
            </a:pPr>
            <a:r>
              <a:rPr lang="en-US" sz="1750" dirty="0">
                <a:solidFill>
                  <a:srgbClr val="161613"/>
                </a:solidFill>
                <a:latin typeface="DM Sans Medium" pitchFamily="34" charset="0"/>
                <a:ea typeface="DM Sans Medium" pitchFamily="34" charset="-122"/>
                <a:cs typeface="DM Sans Medium" pitchFamily="34" charset="-120"/>
              </a:rPr>
              <a:t>Backend</a:t>
            </a:r>
            <a:endParaRPr lang="en-US" sz="1750" dirty="0"/>
          </a:p>
        </p:txBody>
      </p:sp>
      <p:sp>
        <p:nvSpPr>
          <p:cNvPr id="7" name="Text 4"/>
          <p:cNvSpPr/>
          <p:nvPr/>
        </p:nvSpPr>
        <p:spPr>
          <a:xfrm>
            <a:off x="5756528" y="3196134"/>
            <a:ext cx="5779943" cy="562967"/>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161613"/>
                </a:solidFill>
                <a:latin typeface="Inter" pitchFamily="34" charset="0"/>
                <a:ea typeface="Inter" pitchFamily="34" charset="-122"/>
                <a:cs typeface="Inter" pitchFamily="34" charset="-120"/>
              </a:rPr>
              <a:t>Python 3.12 • FastAPI • SQLAlchemy • Pydantic • JWT Auth • RBAC</a:t>
            </a:r>
            <a:endParaRPr lang="en-US" sz="1400" dirty="0"/>
          </a:p>
        </p:txBody>
      </p:sp>
      <p:sp>
        <p:nvSpPr>
          <p:cNvPr id="8" name="Text 5"/>
          <p:cNvSpPr/>
          <p:nvPr/>
        </p:nvSpPr>
        <p:spPr>
          <a:xfrm>
            <a:off x="5756528" y="3930749"/>
            <a:ext cx="5779943" cy="281484"/>
          </a:xfrm>
          <a:prstGeom prst="rect">
            <a:avLst/>
          </a:prstGeom>
          <a:noFill/>
          <a:ln/>
        </p:spPr>
        <p:txBody>
          <a:bodyPr wrap="none" lIns="0" tIns="0" rIns="0" bIns="0" rtlCol="0" anchor="t"/>
          <a:lstStyle/>
          <a:p>
            <a:pPr algn="l" indent="0" marL="0">
              <a:lnSpc>
                <a:spcPct val="104000"/>
              </a:lnSpc>
              <a:buNone/>
            </a:pPr>
            <a:r>
              <a:rPr lang="en-US" sz="1750" dirty="0">
                <a:solidFill>
                  <a:srgbClr val="161613"/>
                </a:solidFill>
                <a:latin typeface="DM Sans Medium" pitchFamily="34" charset="0"/>
                <a:ea typeface="DM Sans Medium" pitchFamily="34" charset="-122"/>
                <a:cs typeface="DM Sans Medium" pitchFamily="34" charset="-120"/>
              </a:rPr>
              <a:t>Database &amp; Core Modules</a:t>
            </a:r>
            <a:endParaRPr lang="en-US" sz="1750" dirty="0"/>
          </a:p>
        </p:txBody>
      </p:sp>
      <p:sp>
        <p:nvSpPr>
          <p:cNvPr id="9" name="Text 6"/>
          <p:cNvSpPr/>
          <p:nvPr/>
        </p:nvSpPr>
        <p:spPr>
          <a:xfrm>
            <a:off x="5756528" y="4383881"/>
            <a:ext cx="5779943" cy="562967"/>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161613"/>
                </a:solidFill>
                <a:latin typeface="Inter" pitchFamily="34" charset="0"/>
                <a:ea typeface="Inter" pitchFamily="34" charset="-122"/>
                <a:cs typeface="Inter" pitchFamily="34" charset="-120"/>
              </a:rPr>
              <a:t>PostgreSQL + Alembic. Core modules: Users | Technicians | Skills | Jobs | ETA | Overrides | Audit</a:t>
            </a:r>
            <a:endParaRPr lang="en-US" sz="1400" dirty="0"/>
          </a:p>
        </p:txBody>
      </p:sp>
      <p:sp>
        <p:nvSpPr>
          <p:cNvPr id="10" name="Shape 7"/>
          <p:cNvSpPr/>
          <p:nvPr/>
        </p:nvSpPr>
        <p:spPr>
          <a:xfrm>
            <a:off x="5756528" y="5140027"/>
            <a:ext cx="5779943" cy="961827"/>
          </a:xfrm>
          <a:prstGeom prst="roundRect">
            <a:avLst>
              <a:gd name="adj" fmla="val 2810"/>
            </a:avLst>
          </a:prstGeom>
          <a:solidFill>
            <a:srgbClr val="E3E3E8"/>
          </a:solidFill>
          <a:ln/>
        </p:spPr>
      </p:sp>
      <p:pic>
        <p:nvPicPr>
          <p:cNvPr id="11" name="Image 1" descr="preencoded.png">    </p:cNvPr>
          <p:cNvPicPr>
            <a:picLocks noChangeAspect="1"/>
          </p:cNvPicPr>
          <p:nvPr/>
        </p:nvPicPr>
        <p:blipFill>
          <a:blip r:embed="rId2"/>
          <a:stretch>
            <a:fillRect/>
          </a:stretch>
        </p:blipFill>
        <p:spPr>
          <a:xfrm>
            <a:off x="5936605" y="5402163"/>
            <a:ext cx="225122" cy="180082"/>
          </a:xfrm>
          <a:prstGeom prst="rect">
            <a:avLst/>
          </a:prstGeom>
        </p:spPr>
      </p:pic>
      <p:sp>
        <p:nvSpPr>
          <p:cNvPr id="12" name="Text 8"/>
          <p:cNvSpPr/>
          <p:nvPr/>
        </p:nvSpPr>
        <p:spPr>
          <a:xfrm>
            <a:off x="6341805" y="5339457"/>
            <a:ext cx="5014589" cy="562967"/>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000000"/>
                </a:solidFill>
                <a:latin typeface="Inter" pitchFamily="34" charset="0"/>
                <a:ea typeface="Inter" pitchFamily="34" charset="-122"/>
                <a:cs typeface="Inter" pitchFamily="34" charset="-120"/>
              </a:rPr>
              <a:t> Designed for testability, role-scoped APIs, and incremental integration of external context sources.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84907"/>
            <a:ext cx="6296860" cy="590649"/>
          </a:xfrm>
          <a:prstGeom prst="rect">
            <a:avLst/>
          </a:prstGeom>
          <a:noFill/>
          <a:ln/>
        </p:spPr>
        <p:txBody>
          <a:bodyPr wrap="none" lIns="0" tIns="0" rIns="0" bIns="0" rtlCol="0" anchor="t"/>
          <a:lstStyle/>
          <a:p>
            <a:pPr algn="l" indent="0" marL="0">
              <a:lnSpc>
                <a:spcPct val="104000"/>
              </a:lnSpc>
              <a:buNone/>
            </a:pPr>
            <a:r>
              <a:rPr lang="en-US" sz="3700" dirty="0">
                <a:solidFill>
                  <a:srgbClr val="161613"/>
                </a:solidFill>
                <a:latin typeface="DM Sans Medium" pitchFamily="34" charset="0"/>
                <a:ea typeface="DM Sans Medium" pitchFamily="34" charset="-122"/>
                <a:cs typeface="DM Sans Medium" pitchFamily="34" charset="-120"/>
              </a:rPr>
              <a:t>Role-Based Workspaces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559024"/>
            <a:ext cx="472468" cy="472480"/>
          </a:xfrm>
          <a:prstGeom prst="rect">
            <a:avLst/>
          </a:prstGeom>
        </p:spPr>
      </p:pic>
      <p:sp>
        <p:nvSpPr>
          <p:cNvPr id="5" name="Text 1"/>
          <p:cNvSpPr/>
          <p:nvPr/>
        </p:nvSpPr>
        <p:spPr>
          <a:xfrm>
            <a:off x="1370177" y="1559024"/>
            <a:ext cx="5588158" cy="295275"/>
          </a:xfrm>
          <a:prstGeom prst="rect">
            <a:avLst/>
          </a:prstGeom>
          <a:noFill/>
          <a:ln/>
        </p:spPr>
        <p:txBody>
          <a:bodyPr wrap="none" lIns="0" tIns="0" rIns="0" bIns="0" rtlCol="0" anchor="t"/>
          <a:lstStyle/>
          <a:p>
            <a:pPr algn="l" indent="0" marL="0">
              <a:lnSpc>
                <a:spcPct val="104000"/>
              </a:lnSpc>
              <a:buNone/>
            </a:pPr>
            <a:r>
              <a:rPr lang="en-US" sz="1850" dirty="0">
                <a:solidFill>
                  <a:srgbClr val="161613"/>
                </a:solidFill>
                <a:latin typeface="DM Sans Medium" pitchFamily="34" charset="0"/>
                <a:ea typeface="DM Sans Medium" pitchFamily="34" charset="-122"/>
                <a:cs typeface="DM Sans Medium" pitchFamily="34" charset="-120"/>
              </a:rPr>
              <a:t>Administrator</a:t>
            </a:r>
            <a:endParaRPr lang="en-US" sz="1850" dirty="0"/>
          </a:p>
        </p:txBody>
      </p:sp>
      <p:sp>
        <p:nvSpPr>
          <p:cNvPr id="6" name="Text 2"/>
          <p:cNvSpPr/>
          <p:nvPr/>
        </p:nvSpPr>
        <p:spPr>
          <a:xfrm>
            <a:off x="1370177" y="1967706"/>
            <a:ext cx="5588158"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Manage users, roles, technicians, skills and system visibility; full audit access.</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950567"/>
            <a:ext cx="472468" cy="472480"/>
          </a:xfrm>
          <a:prstGeom prst="rect">
            <a:avLst/>
          </a:prstGeom>
        </p:spPr>
      </p:pic>
      <p:sp>
        <p:nvSpPr>
          <p:cNvPr id="8" name="Text 3"/>
          <p:cNvSpPr/>
          <p:nvPr/>
        </p:nvSpPr>
        <p:spPr>
          <a:xfrm>
            <a:off x="1370177" y="2950567"/>
            <a:ext cx="5588158" cy="295275"/>
          </a:xfrm>
          <a:prstGeom prst="rect">
            <a:avLst/>
          </a:prstGeom>
          <a:noFill/>
          <a:ln/>
        </p:spPr>
        <p:txBody>
          <a:bodyPr wrap="none" lIns="0" tIns="0" rIns="0" bIns="0" rtlCol="0" anchor="t"/>
          <a:lstStyle/>
          <a:p>
            <a:pPr algn="l" indent="0" marL="0">
              <a:lnSpc>
                <a:spcPct val="104000"/>
              </a:lnSpc>
              <a:buNone/>
            </a:pPr>
            <a:r>
              <a:rPr lang="en-US" sz="1850" dirty="0">
                <a:solidFill>
                  <a:srgbClr val="161613"/>
                </a:solidFill>
                <a:latin typeface="DM Sans Medium" pitchFamily="34" charset="0"/>
                <a:ea typeface="DM Sans Medium" pitchFamily="34" charset="-122"/>
                <a:cs typeface="DM Sans Medium" pitchFamily="34" charset="-120"/>
              </a:rPr>
              <a:t>Dispatcher</a:t>
            </a:r>
            <a:endParaRPr lang="en-US" sz="1850" dirty="0"/>
          </a:p>
        </p:txBody>
      </p:sp>
      <p:sp>
        <p:nvSpPr>
          <p:cNvPr id="9" name="Text 4"/>
          <p:cNvSpPr/>
          <p:nvPr/>
        </p:nvSpPr>
        <p:spPr>
          <a:xfrm>
            <a:off x="1370177" y="3359249"/>
            <a:ext cx="5588158"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Job management, ETA analysis, technician directory, availability, and controlled overrides.</a:t>
            </a:r>
            <a:endParaRPr lang="en-US" sz="14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342110"/>
            <a:ext cx="472468" cy="472480"/>
          </a:xfrm>
          <a:prstGeom prst="rect">
            <a:avLst/>
          </a:prstGeom>
        </p:spPr>
      </p:pic>
      <p:sp>
        <p:nvSpPr>
          <p:cNvPr id="11" name="Text 5"/>
          <p:cNvSpPr/>
          <p:nvPr/>
        </p:nvSpPr>
        <p:spPr>
          <a:xfrm>
            <a:off x="1370177" y="4342110"/>
            <a:ext cx="5588158" cy="295275"/>
          </a:xfrm>
          <a:prstGeom prst="rect">
            <a:avLst/>
          </a:prstGeom>
          <a:noFill/>
          <a:ln/>
        </p:spPr>
        <p:txBody>
          <a:bodyPr wrap="none" lIns="0" tIns="0" rIns="0" bIns="0" rtlCol="0" anchor="t"/>
          <a:lstStyle/>
          <a:p>
            <a:pPr algn="l" indent="0" marL="0">
              <a:lnSpc>
                <a:spcPct val="104000"/>
              </a:lnSpc>
              <a:buNone/>
            </a:pPr>
            <a:r>
              <a:rPr lang="en-US" sz="1850" dirty="0">
                <a:solidFill>
                  <a:srgbClr val="161613"/>
                </a:solidFill>
                <a:latin typeface="DM Sans Medium" pitchFamily="34" charset="0"/>
                <a:ea typeface="DM Sans Medium" pitchFamily="34" charset="-122"/>
                <a:cs typeface="DM Sans Medium" pitchFamily="34" charset="-120"/>
              </a:rPr>
              <a:t>Technician</a:t>
            </a:r>
            <a:endParaRPr lang="en-US" sz="1850" dirty="0"/>
          </a:p>
        </p:txBody>
      </p:sp>
      <p:sp>
        <p:nvSpPr>
          <p:cNvPr id="12" name="Text 6"/>
          <p:cNvSpPr/>
          <p:nvPr/>
        </p:nvSpPr>
        <p:spPr>
          <a:xfrm>
            <a:off x="1370177" y="4750792"/>
            <a:ext cx="5588158"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Assigned jobs, customer/location details, job instructions, status transitions, and completion workflow.</a:t>
            </a:r>
            <a:endParaRPr lang="en-US" sz="1450" dirty="0"/>
          </a:p>
        </p:txBody>
      </p:sp>
      <p:sp>
        <p:nvSpPr>
          <p:cNvPr id="13" name="Text 7"/>
          <p:cNvSpPr/>
          <p:nvPr/>
        </p:nvSpPr>
        <p:spPr>
          <a:xfrm>
            <a:off x="661475" y="5568255"/>
            <a:ext cx="629686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 One system — three operational views, each enforcing least-privilege and optimized UX for role tasks.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219895"/>
            <a:ext cx="4070744" cy="2306737"/>
          </a:xfrm>
          <a:prstGeom prst="rect">
            <a:avLst/>
          </a:prstGeom>
        </p:spPr>
      </p:pic>
      <p:sp>
        <p:nvSpPr>
          <p:cNvPr id="3" name="Text 0"/>
          <p:cNvSpPr/>
          <p:nvPr/>
        </p:nvSpPr>
        <p:spPr>
          <a:xfrm>
            <a:off x="5199726" y="1243905"/>
            <a:ext cx="6336745" cy="1181298"/>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161613"/>
                </a:solidFill>
                <a:latin typeface="DM Sans Medium" pitchFamily="34" charset="0"/>
                <a:ea typeface="DM Sans Medium" pitchFamily="34" charset="-122"/>
                <a:cs typeface="DM Sans Medium" pitchFamily="34" charset="-120"/>
              </a:rPr>
              <a:t>Technician, Skills &amp; Job Management</a:t>
            </a:r>
            <a:endParaRPr lang="en-US" sz="3700" dirty="0"/>
          </a:p>
        </p:txBody>
      </p:sp>
      <p:sp>
        <p:nvSpPr>
          <p:cNvPr id="4" name="Text 1"/>
          <p:cNvSpPr/>
          <p:nvPr/>
        </p:nvSpPr>
        <p:spPr>
          <a:xfrm>
            <a:off x="5199726" y="2614216"/>
            <a:ext cx="6336745"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         Centralized CRUD for technicians and skills, search &amp; filters, live availability and GPS locations. Skill categories and technician-skill associations ensure accurate qualification matching.       </a:t>
            </a:r>
            <a:endParaRPr lang="en-US" sz="1450" dirty="0"/>
          </a:p>
        </p:txBody>
      </p:sp>
      <p:sp>
        <p:nvSpPr>
          <p:cNvPr id="5" name="Text 2"/>
          <p:cNvSpPr/>
          <p:nvPr/>
        </p:nvSpPr>
        <p:spPr>
          <a:xfrm>
            <a:off x="661475" y="395188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61613"/>
                </a:solidFill>
                <a:latin typeface="DM Sans Light" pitchFamily="34" charset="0"/>
                <a:ea typeface="DM Sans Light" pitchFamily="34" charset="-122"/>
                <a:cs typeface="DM Sans Light" pitchFamily="34" charset="-120"/>
              </a:rPr>
              <a:t>01</a:t>
            </a:r>
            <a:endParaRPr lang="en-US" sz="1450" dirty="0"/>
          </a:p>
        </p:txBody>
      </p:sp>
      <p:sp>
        <p:nvSpPr>
          <p:cNvPr id="6" name="Shape 3"/>
          <p:cNvSpPr/>
          <p:nvPr/>
        </p:nvSpPr>
        <p:spPr>
          <a:xfrm>
            <a:off x="661475" y="4247753"/>
            <a:ext cx="3496877" cy="25400"/>
          </a:xfrm>
          <a:prstGeom prst="rect">
            <a:avLst/>
          </a:prstGeom>
          <a:solidFill>
            <a:srgbClr val="28282F"/>
          </a:solidFill>
          <a:ln/>
        </p:spPr>
      </p:sp>
      <p:sp>
        <p:nvSpPr>
          <p:cNvPr id="7" name="Text 4"/>
          <p:cNvSpPr/>
          <p:nvPr/>
        </p:nvSpPr>
        <p:spPr>
          <a:xfrm>
            <a:off x="661475" y="4393009"/>
            <a:ext cx="3496877" cy="295275"/>
          </a:xfrm>
          <a:prstGeom prst="rect">
            <a:avLst/>
          </a:prstGeom>
          <a:noFill/>
          <a:ln/>
        </p:spPr>
        <p:txBody>
          <a:bodyPr wrap="none" lIns="0" tIns="0" rIns="0" bIns="0" rtlCol="0" anchor="t"/>
          <a:lstStyle/>
          <a:p>
            <a:pPr algn="l" indent="0" marL="0">
              <a:lnSpc>
                <a:spcPct val="104000"/>
              </a:lnSpc>
              <a:buNone/>
            </a:pPr>
            <a:r>
              <a:rPr lang="en-US" sz="1850" dirty="0">
                <a:solidFill>
                  <a:srgbClr val="161613"/>
                </a:solidFill>
                <a:latin typeface="DM Sans Medium" pitchFamily="34" charset="0"/>
                <a:ea typeface="DM Sans Medium" pitchFamily="34" charset="-122"/>
                <a:cs typeface="DM Sans Medium" pitchFamily="34" charset="-120"/>
              </a:rPr>
              <a:t>Job States</a:t>
            </a:r>
            <a:endParaRPr lang="en-US" sz="1850" dirty="0"/>
          </a:p>
        </p:txBody>
      </p:sp>
      <p:sp>
        <p:nvSpPr>
          <p:cNvPr id="8" name="Text 5"/>
          <p:cNvSpPr/>
          <p:nvPr/>
        </p:nvSpPr>
        <p:spPr>
          <a:xfrm>
            <a:off x="661475" y="4801691"/>
            <a:ext cx="34968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ASSIGNED → TRAVELLING → ARRIVED → WORKING → COMPLETED</a:t>
            </a:r>
            <a:endParaRPr lang="en-US" sz="1450" dirty="0"/>
          </a:p>
        </p:txBody>
      </p:sp>
      <p:sp>
        <p:nvSpPr>
          <p:cNvPr id="9" name="Text 6"/>
          <p:cNvSpPr/>
          <p:nvPr/>
        </p:nvSpPr>
        <p:spPr>
          <a:xfrm>
            <a:off x="4347359" y="395188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61613"/>
                </a:solidFill>
                <a:latin typeface="DM Sans Light" pitchFamily="34" charset="0"/>
                <a:ea typeface="DM Sans Light" pitchFamily="34" charset="-122"/>
                <a:cs typeface="DM Sans Light" pitchFamily="34" charset="-120"/>
              </a:rPr>
              <a:t>02</a:t>
            </a:r>
            <a:endParaRPr lang="en-US" sz="1450" dirty="0"/>
          </a:p>
        </p:txBody>
      </p:sp>
      <p:sp>
        <p:nvSpPr>
          <p:cNvPr id="10" name="Shape 7"/>
          <p:cNvSpPr/>
          <p:nvPr/>
        </p:nvSpPr>
        <p:spPr>
          <a:xfrm>
            <a:off x="4347359" y="4247753"/>
            <a:ext cx="3496877" cy="25400"/>
          </a:xfrm>
          <a:prstGeom prst="rect">
            <a:avLst/>
          </a:prstGeom>
          <a:solidFill>
            <a:srgbClr val="28282F"/>
          </a:solidFill>
          <a:ln/>
        </p:spPr>
      </p:sp>
      <p:sp>
        <p:nvSpPr>
          <p:cNvPr id="11" name="Text 8"/>
          <p:cNvSpPr/>
          <p:nvPr/>
        </p:nvSpPr>
        <p:spPr>
          <a:xfrm>
            <a:off x="4347359" y="4393009"/>
            <a:ext cx="3496877" cy="295275"/>
          </a:xfrm>
          <a:prstGeom prst="rect">
            <a:avLst/>
          </a:prstGeom>
          <a:noFill/>
          <a:ln/>
        </p:spPr>
        <p:txBody>
          <a:bodyPr wrap="none" lIns="0" tIns="0" rIns="0" bIns="0" rtlCol="0" anchor="t"/>
          <a:lstStyle/>
          <a:p>
            <a:pPr algn="l" indent="0" marL="0">
              <a:lnSpc>
                <a:spcPct val="104000"/>
              </a:lnSpc>
              <a:buNone/>
            </a:pPr>
            <a:r>
              <a:rPr lang="en-US" sz="1850" dirty="0">
                <a:solidFill>
                  <a:srgbClr val="161613"/>
                </a:solidFill>
                <a:latin typeface="DM Sans Medium" pitchFamily="34" charset="0"/>
                <a:ea typeface="DM Sans Medium" pitchFamily="34" charset="-122"/>
                <a:cs typeface="DM Sans Medium" pitchFamily="34" charset="-120"/>
              </a:rPr>
              <a:t>Execution Controls</a:t>
            </a:r>
            <a:endParaRPr lang="en-US" sz="1850" dirty="0"/>
          </a:p>
        </p:txBody>
      </p:sp>
      <p:sp>
        <p:nvSpPr>
          <p:cNvPr id="12" name="Text 9"/>
          <p:cNvSpPr/>
          <p:nvPr/>
        </p:nvSpPr>
        <p:spPr>
          <a:xfrm>
            <a:off x="4347359" y="4801691"/>
            <a:ext cx="34968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Ownership checks, status transition validation, completion notes, and mandatory confirmations.</a:t>
            </a:r>
            <a:endParaRPr lang="en-US" sz="1450" dirty="0"/>
          </a:p>
        </p:txBody>
      </p:sp>
      <p:sp>
        <p:nvSpPr>
          <p:cNvPr id="13" name="Text 10"/>
          <p:cNvSpPr/>
          <p:nvPr/>
        </p:nvSpPr>
        <p:spPr>
          <a:xfrm>
            <a:off x="8033244" y="395188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61613"/>
                </a:solidFill>
                <a:latin typeface="DM Sans Light" pitchFamily="34" charset="0"/>
                <a:ea typeface="DM Sans Light" pitchFamily="34" charset="-122"/>
                <a:cs typeface="DM Sans Light" pitchFamily="34" charset="-120"/>
              </a:rPr>
              <a:t>03</a:t>
            </a:r>
            <a:endParaRPr lang="en-US" sz="1450" dirty="0"/>
          </a:p>
        </p:txBody>
      </p:sp>
      <p:sp>
        <p:nvSpPr>
          <p:cNvPr id="14" name="Shape 11"/>
          <p:cNvSpPr/>
          <p:nvPr/>
        </p:nvSpPr>
        <p:spPr>
          <a:xfrm>
            <a:off x="8033244" y="4247753"/>
            <a:ext cx="3496877" cy="25400"/>
          </a:xfrm>
          <a:prstGeom prst="rect">
            <a:avLst/>
          </a:prstGeom>
          <a:solidFill>
            <a:srgbClr val="28282F"/>
          </a:solidFill>
          <a:ln/>
        </p:spPr>
      </p:sp>
      <p:sp>
        <p:nvSpPr>
          <p:cNvPr id="15" name="Text 12"/>
          <p:cNvSpPr/>
          <p:nvPr/>
        </p:nvSpPr>
        <p:spPr>
          <a:xfrm>
            <a:off x="8033244" y="4393009"/>
            <a:ext cx="3496877" cy="295275"/>
          </a:xfrm>
          <a:prstGeom prst="rect">
            <a:avLst/>
          </a:prstGeom>
          <a:noFill/>
          <a:ln/>
        </p:spPr>
        <p:txBody>
          <a:bodyPr wrap="none" lIns="0" tIns="0" rIns="0" bIns="0" rtlCol="0" anchor="t"/>
          <a:lstStyle/>
          <a:p>
            <a:pPr algn="l" indent="0" marL="0">
              <a:lnSpc>
                <a:spcPct val="104000"/>
              </a:lnSpc>
              <a:buNone/>
            </a:pPr>
            <a:r>
              <a:rPr lang="en-US" sz="1850" dirty="0">
                <a:solidFill>
                  <a:srgbClr val="161613"/>
                </a:solidFill>
                <a:latin typeface="DM Sans Medium" pitchFamily="34" charset="0"/>
                <a:ea typeface="DM Sans Medium" pitchFamily="34" charset="-122"/>
                <a:cs typeface="DM Sans Medium" pitchFamily="34" charset="-120"/>
              </a:rPr>
              <a:t>Traceability</a:t>
            </a:r>
            <a:endParaRPr lang="en-US" sz="1850" dirty="0"/>
          </a:p>
        </p:txBody>
      </p:sp>
      <p:sp>
        <p:nvSpPr>
          <p:cNvPr id="16" name="Text 13"/>
          <p:cNvSpPr/>
          <p:nvPr/>
        </p:nvSpPr>
        <p:spPr>
          <a:xfrm>
            <a:off x="8033244" y="4801691"/>
            <a:ext cx="34968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61613"/>
                </a:solidFill>
                <a:latin typeface="Inter" pitchFamily="34" charset="0"/>
                <a:ea typeface="Inter" pitchFamily="34" charset="-122"/>
                <a:cs typeface="Inter" pitchFamily="34" charset="-120"/>
              </a:rPr>
              <a:t>Status changes and notes are audited for accountability and post-incident review.</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32718"/>
            <a:ext cx="6296860" cy="479921"/>
          </a:xfrm>
          <a:prstGeom prst="rect">
            <a:avLst/>
          </a:prstGeom>
          <a:noFill/>
          <a:ln/>
        </p:spPr>
        <p:txBody>
          <a:bodyPr wrap="none" lIns="0" tIns="0" rIns="0" bIns="0" rtlCol="0" anchor="t"/>
          <a:lstStyle/>
          <a:p>
            <a:pPr algn="l" indent="0" marL="0">
              <a:lnSpc>
                <a:spcPct val="104000"/>
              </a:lnSpc>
              <a:buNone/>
            </a:pPr>
            <a:r>
              <a:rPr lang="en-US" sz="3000" dirty="0">
                <a:solidFill>
                  <a:srgbClr val="161613"/>
                </a:solidFill>
                <a:latin typeface="DM Sans Medium" pitchFamily="34" charset="0"/>
                <a:ea typeface="DM Sans Medium" pitchFamily="34" charset="-122"/>
                <a:cs typeface="DM Sans Medium" pitchFamily="34" charset="-120"/>
              </a:rPr>
              <a:t>Context-Aware ETA Engine</a:t>
            </a:r>
            <a:endParaRPr lang="en-US" sz="3000" dirty="0"/>
          </a:p>
        </p:txBody>
      </p:sp>
      <p:sp>
        <p:nvSpPr>
          <p:cNvPr id="4" name="Text 1"/>
          <p:cNvSpPr/>
          <p:nvPr/>
        </p:nvSpPr>
        <p:spPr>
          <a:xfrm>
            <a:off x="661475" y="1299766"/>
            <a:ext cx="6296860" cy="667941"/>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161613"/>
                </a:solidFill>
                <a:latin typeface="Inter" pitchFamily="34" charset="0"/>
                <a:ea typeface="Inter" pitchFamily="34" charset="-122"/>
                <a:cs typeface="Inter" pitchFamily="34" charset="-120"/>
              </a:rPr>
              <a:t>     Baseline ETA = Haversine distance / nominal speed (40 km/h) + staging buffer. Context-aware ETA augments baseline with adjustments from weather, traffic, events and road restrictions when available.   </a:t>
            </a:r>
            <a:endParaRPr lang="en-US" sz="12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108002"/>
            <a:ext cx="3086023" cy="1769368"/>
          </a:xfrm>
          <a:prstGeom prst="rect">
            <a:avLst/>
          </a:prstGeom>
        </p:spPr>
      </p:pic>
      <p:sp>
        <p:nvSpPr>
          <p:cNvPr id="6" name="Text 2"/>
          <p:cNvSpPr/>
          <p:nvPr/>
        </p:nvSpPr>
        <p:spPr>
          <a:xfrm>
            <a:off x="2112364" y="2223195"/>
            <a:ext cx="184245" cy="230287"/>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DM Sans Medium" pitchFamily="34" charset="0"/>
                <a:ea typeface="DM Sans Medium" pitchFamily="34" charset="-122"/>
                <a:cs typeface="DM Sans Medium" pitchFamily="34" charset="-120"/>
              </a:rPr>
              <a:t>1</a:t>
            </a:r>
            <a:endParaRPr lang="en-US" sz="1450" dirty="0"/>
          </a:p>
        </p:txBody>
      </p:sp>
      <p:sp>
        <p:nvSpPr>
          <p:cNvPr id="7" name="Text 3"/>
          <p:cNvSpPr/>
          <p:nvPr/>
        </p:nvSpPr>
        <p:spPr>
          <a:xfrm>
            <a:off x="834012" y="2722166"/>
            <a:ext cx="2740949" cy="239911"/>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Baseline ETA</a:t>
            </a:r>
            <a:endParaRPr lang="en-US" sz="1500" dirty="0"/>
          </a:p>
        </p:txBody>
      </p:sp>
      <p:sp>
        <p:nvSpPr>
          <p:cNvPr id="8" name="Text 4"/>
          <p:cNvSpPr/>
          <p:nvPr/>
        </p:nvSpPr>
        <p:spPr>
          <a:xfrm>
            <a:off x="834012" y="3036887"/>
            <a:ext cx="2740949" cy="445294"/>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161613"/>
                </a:solidFill>
                <a:latin typeface="Inter" pitchFamily="34" charset="0"/>
                <a:ea typeface="Inter" pitchFamily="34" charset="-122"/>
                <a:cs typeface="Inter" pitchFamily="34" charset="-120"/>
              </a:rPr>
              <a:t>Haversine → 40 km/h → +3 min staging (deterministic, explainable)</a:t>
            </a:r>
            <a:endParaRPr lang="en-US" sz="120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72213" y="2108002"/>
            <a:ext cx="3086122" cy="1769368"/>
          </a:xfrm>
          <a:prstGeom prst="rect">
            <a:avLst/>
          </a:prstGeom>
        </p:spPr>
      </p:pic>
      <p:sp>
        <p:nvSpPr>
          <p:cNvPr id="10" name="Text 5"/>
          <p:cNvSpPr/>
          <p:nvPr/>
        </p:nvSpPr>
        <p:spPr>
          <a:xfrm>
            <a:off x="5323102" y="2223195"/>
            <a:ext cx="184245" cy="230287"/>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DM Sans Medium" pitchFamily="34" charset="0"/>
                <a:ea typeface="DM Sans Medium" pitchFamily="34" charset="-122"/>
                <a:cs typeface="DM Sans Medium" pitchFamily="34" charset="-120"/>
              </a:rPr>
              <a:t>2</a:t>
            </a:r>
            <a:endParaRPr lang="en-US" sz="1450" dirty="0"/>
          </a:p>
        </p:txBody>
      </p:sp>
      <p:sp>
        <p:nvSpPr>
          <p:cNvPr id="11" name="Text 6"/>
          <p:cNvSpPr/>
          <p:nvPr/>
        </p:nvSpPr>
        <p:spPr>
          <a:xfrm>
            <a:off x="4044750" y="2722166"/>
            <a:ext cx="2741048" cy="239911"/>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Context Adjustments</a:t>
            </a:r>
            <a:endParaRPr lang="en-US" sz="1500" dirty="0"/>
          </a:p>
        </p:txBody>
      </p:sp>
      <p:sp>
        <p:nvSpPr>
          <p:cNvPr id="12" name="Text 7"/>
          <p:cNvSpPr/>
          <p:nvPr/>
        </p:nvSpPr>
        <p:spPr>
          <a:xfrm>
            <a:off x="4044750" y="3036887"/>
            <a:ext cx="2741048" cy="667941"/>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161613"/>
                </a:solidFill>
                <a:latin typeface="Inter" pitchFamily="34" charset="0"/>
                <a:ea typeface="Inter" pitchFamily="34" charset="-122"/>
                <a:cs typeface="Inter" pitchFamily="34" charset="-120"/>
              </a:rPr>
              <a:t>Weather (+/-), traffic (+), events (+), road closures (+). Integration planned for live feeds where available.</a:t>
            </a:r>
            <a:endParaRPr lang="en-US" sz="1200" dirty="0"/>
          </a:p>
        </p:txBody>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002088"/>
            <a:ext cx="6296860" cy="1324074"/>
          </a:xfrm>
          <a:prstGeom prst="rect">
            <a:avLst/>
          </a:prstGeom>
        </p:spPr>
      </p:pic>
      <p:sp>
        <p:nvSpPr>
          <p:cNvPr id="14" name="Text 8"/>
          <p:cNvSpPr/>
          <p:nvPr/>
        </p:nvSpPr>
        <p:spPr>
          <a:xfrm>
            <a:off x="3717782" y="4117280"/>
            <a:ext cx="184245" cy="230287"/>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DM Sans Medium" pitchFamily="34" charset="0"/>
                <a:ea typeface="DM Sans Medium" pitchFamily="34" charset="-122"/>
                <a:cs typeface="DM Sans Medium" pitchFamily="34" charset="-120"/>
              </a:rPr>
              <a:t>3</a:t>
            </a:r>
            <a:endParaRPr lang="en-US" sz="1450" dirty="0"/>
          </a:p>
        </p:txBody>
      </p:sp>
      <p:sp>
        <p:nvSpPr>
          <p:cNvPr id="15" name="Text 9"/>
          <p:cNvSpPr/>
          <p:nvPr/>
        </p:nvSpPr>
        <p:spPr>
          <a:xfrm>
            <a:off x="834012" y="4616252"/>
            <a:ext cx="5951785" cy="239911"/>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Example</a:t>
            </a:r>
            <a:endParaRPr lang="en-US" sz="1500" dirty="0"/>
          </a:p>
        </p:txBody>
      </p:sp>
      <p:sp>
        <p:nvSpPr>
          <p:cNvPr id="16" name="Text 10"/>
          <p:cNvSpPr/>
          <p:nvPr/>
        </p:nvSpPr>
        <p:spPr>
          <a:xfrm>
            <a:off x="834012" y="4930973"/>
            <a:ext cx="5951785" cy="222647"/>
          </a:xfrm>
          <a:prstGeom prst="rect">
            <a:avLst/>
          </a:prstGeom>
          <a:noFill/>
          <a:ln/>
        </p:spPr>
        <p:txBody>
          <a:bodyPr wrap="none" lIns="0" tIns="0" rIns="0" bIns="0" rtlCol="0" anchor="t"/>
          <a:lstStyle/>
          <a:p>
            <a:pPr algn="l" indent="0" marL="0">
              <a:lnSpc>
                <a:spcPct val="121000"/>
              </a:lnSpc>
              <a:buNone/>
            </a:pPr>
            <a:r>
              <a:rPr lang="en-US" sz="1200" dirty="0">
                <a:solidFill>
                  <a:srgbClr val="161613"/>
                </a:solidFill>
                <a:latin typeface="Inter" pitchFamily="34" charset="0"/>
                <a:ea typeface="Inter" pitchFamily="34" charset="-122"/>
                <a:cs typeface="Inter" pitchFamily="34" charset="-120"/>
              </a:rPr>
              <a:t>Baseline: 7 min • Weather adj: +5 min • Context-Aware ETA: 12 min</a:t>
            </a:r>
            <a:endParaRPr lang="en-US" sz="1200" dirty="0"/>
          </a:p>
        </p:txBody>
      </p:sp>
      <p:sp>
        <p:nvSpPr>
          <p:cNvPr id="17" name="Shape 11"/>
          <p:cNvSpPr/>
          <p:nvPr/>
        </p:nvSpPr>
        <p:spPr>
          <a:xfrm>
            <a:off x="661475" y="5466457"/>
            <a:ext cx="6296860" cy="758825"/>
          </a:xfrm>
          <a:prstGeom prst="roundRect">
            <a:avLst>
              <a:gd name="adj" fmla="val 3036"/>
            </a:avLst>
          </a:prstGeom>
          <a:solidFill>
            <a:srgbClr val="E3E3E8"/>
          </a:solidFill>
          <a:ln/>
        </p:spPr>
      </p:sp>
      <p:pic>
        <p:nvPicPr>
          <p:cNvPr id="18" name="Image 4" descr="preencoded.png">    </p:cNvPr>
          <p:cNvPicPr>
            <a:picLocks noChangeAspect="1"/>
          </p:cNvPicPr>
          <p:nvPr/>
        </p:nvPicPr>
        <p:blipFill>
          <a:blip r:embed="rId8"/>
          <a:stretch>
            <a:fillRect/>
          </a:stretch>
        </p:blipFill>
        <p:spPr>
          <a:xfrm>
            <a:off x="814962" y="5647531"/>
            <a:ext cx="191884" cy="153491"/>
          </a:xfrm>
          <a:prstGeom prst="rect">
            <a:avLst/>
          </a:prstGeom>
        </p:spPr>
      </p:pic>
      <p:sp>
        <p:nvSpPr>
          <p:cNvPr id="19" name="Text 12"/>
          <p:cNvSpPr/>
          <p:nvPr/>
        </p:nvSpPr>
        <p:spPr>
          <a:xfrm>
            <a:off x="1160334" y="5629473"/>
            <a:ext cx="5644513" cy="445294"/>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000000"/>
                </a:solidFill>
                <a:latin typeface="Inter" pitchFamily="34" charset="0"/>
                <a:ea typeface="Inter" pitchFamily="34" charset="-122"/>
                <a:cs typeface="Inter" pitchFamily="34" charset="-120"/>
              </a:rPr>
              <a:t> Current integrations: GPS &amp; Weather available. Traffic, events, and road restrictions are next integration priorities.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985441"/>
            <a:ext cx="5214609" cy="2522041"/>
          </a:xfrm>
          <a:prstGeom prst="rect">
            <a:avLst/>
          </a:prstGeom>
        </p:spPr>
      </p:pic>
      <p:sp>
        <p:nvSpPr>
          <p:cNvPr id="3" name="Text 0"/>
          <p:cNvSpPr/>
          <p:nvPr/>
        </p:nvSpPr>
        <p:spPr>
          <a:xfrm>
            <a:off x="1136472" y="2612714"/>
            <a:ext cx="1267765" cy="158475"/>
          </a:xfrm>
          <a:prstGeom prst="rect">
            <a:avLst/>
          </a:prstGeom>
          <a:noFill/>
          <a:ln/>
        </p:spPr>
        <p:txBody>
          <a:bodyPr wrap="none" lIns="0" tIns="0" rIns="0" bIns="0" rtlCol="0" anchor="t"/>
          <a:lstStyle/>
          <a:p>
            <a:pPr algn="l" indent="0" marL="0">
              <a:lnSpc>
                <a:spcPct val="104000"/>
              </a:lnSpc>
              <a:buNone/>
            </a:pPr>
            <a:r>
              <a:rPr lang="en-US" sz="950" dirty="0">
                <a:solidFill>
                  <a:srgbClr val="161613"/>
                </a:solidFill>
                <a:latin typeface="DM Sans Medium" pitchFamily="34" charset="0"/>
                <a:ea typeface="DM Sans Medium" pitchFamily="34" charset="-122"/>
                <a:cs typeface="DM Sans Medium" pitchFamily="34" charset="-120"/>
              </a:rPr>
              <a:t>Audit Review</a:t>
            </a:r>
            <a:endParaRPr lang="en-US" sz="950" dirty="0"/>
          </a:p>
        </p:txBody>
      </p:sp>
      <p:sp>
        <p:nvSpPr>
          <p:cNvPr id="4" name="Text 1"/>
          <p:cNvSpPr/>
          <p:nvPr/>
        </p:nvSpPr>
        <p:spPr>
          <a:xfrm>
            <a:off x="1136472" y="2816265"/>
            <a:ext cx="1932637" cy="123786"/>
          </a:xfrm>
          <a:prstGeom prst="rect">
            <a:avLst/>
          </a:prstGeom>
          <a:noFill/>
          <a:ln/>
        </p:spPr>
        <p:txBody>
          <a:bodyPr wrap="none" lIns="0" tIns="0" rIns="0" bIns="0" rtlCol="0" anchor="t"/>
          <a:lstStyle/>
          <a:p>
            <a:pPr algn="l" indent="0" marL="0">
              <a:lnSpc>
                <a:spcPct val="102000"/>
              </a:lnSpc>
              <a:buNone/>
            </a:pPr>
            <a:r>
              <a:rPr lang="en-US" sz="750" dirty="0">
                <a:solidFill>
                  <a:srgbClr val="161613"/>
                </a:solidFill>
                <a:latin typeface="Inter" pitchFamily="34" charset="0"/>
                <a:ea typeface="Inter" pitchFamily="34" charset="-122"/>
                <a:cs typeface="Inter" pitchFamily="34" charset="-120"/>
              </a:rPr>
              <a:t>Full override history available for review</a:t>
            </a:r>
            <a:endParaRPr lang="en-US" sz="750" dirty="0"/>
          </a:p>
        </p:txBody>
      </p:sp>
      <p:sp>
        <p:nvSpPr>
          <p:cNvPr id="5" name="Text 2"/>
          <p:cNvSpPr/>
          <p:nvPr/>
        </p:nvSpPr>
        <p:spPr>
          <a:xfrm>
            <a:off x="1136472" y="1998537"/>
            <a:ext cx="1267765" cy="158475"/>
          </a:xfrm>
          <a:prstGeom prst="rect">
            <a:avLst/>
          </a:prstGeom>
          <a:noFill/>
          <a:ln/>
        </p:spPr>
        <p:txBody>
          <a:bodyPr wrap="none" lIns="0" tIns="0" rIns="0" bIns="0" rtlCol="0" anchor="t"/>
          <a:lstStyle/>
          <a:p>
            <a:pPr algn="l" indent="0" marL="0">
              <a:lnSpc>
                <a:spcPct val="104000"/>
              </a:lnSpc>
              <a:buNone/>
            </a:pPr>
            <a:r>
              <a:rPr lang="en-US" sz="950" dirty="0">
                <a:solidFill>
                  <a:srgbClr val="161613"/>
                </a:solidFill>
                <a:latin typeface="DM Sans Medium" pitchFamily="34" charset="0"/>
                <a:ea typeface="DM Sans Medium" pitchFamily="34" charset="-122"/>
                <a:cs typeface="DM Sans Medium" pitchFamily="34" charset="-120"/>
              </a:rPr>
              <a:t>System Log</a:t>
            </a:r>
            <a:endParaRPr lang="en-US" sz="950" dirty="0"/>
          </a:p>
        </p:txBody>
      </p:sp>
      <p:sp>
        <p:nvSpPr>
          <p:cNvPr id="6" name="Text 3"/>
          <p:cNvSpPr/>
          <p:nvPr/>
        </p:nvSpPr>
        <p:spPr>
          <a:xfrm>
            <a:off x="1136472" y="2202088"/>
            <a:ext cx="1932637" cy="123786"/>
          </a:xfrm>
          <a:prstGeom prst="rect">
            <a:avLst/>
          </a:prstGeom>
          <a:noFill/>
          <a:ln/>
        </p:spPr>
        <p:txBody>
          <a:bodyPr wrap="none" lIns="0" tIns="0" rIns="0" bIns="0" rtlCol="0" anchor="t"/>
          <a:lstStyle/>
          <a:p>
            <a:pPr algn="l" indent="0" marL="0">
              <a:lnSpc>
                <a:spcPct val="102000"/>
              </a:lnSpc>
              <a:buNone/>
            </a:pPr>
            <a:r>
              <a:rPr lang="en-US" sz="750" dirty="0">
                <a:solidFill>
                  <a:srgbClr val="161613"/>
                </a:solidFill>
                <a:latin typeface="Inter" pitchFamily="34" charset="0"/>
                <a:ea typeface="Inter" pitchFamily="34" charset="-122"/>
                <a:cs typeface="Inter" pitchFamily="34" charset="-120"/>
              </a:rPr>
              <a:t>Records actor, timestamp, and details</a:t>
            </a:r>
            <a:endParaRPr lang="en-US" sz="750" dirty="0"/>
          </a:p>
        </p:txBody>
      </p:sp>
      <p:sp>
        <p:nvSpPr>
          <p:cNvPr id="7" name="Text 4"/>
          <p:cNvSpPr/>
          <p:nvPr/>
        </p:nvSpPr>
        <p:spPr>
          <a:xfrm>
            <a:off x="1136472" y="1384360"/>
            <a:ext cx="1267765" cy="158475"/>
          </a:xfrm>
          <a:prstGeom prst="rect">
            <a:avLst/>
          </a:prstGeom>
          <a:noFill/>
          <a:ln/>
        </p:spPr>
        <p:txBody>
          <a:bodyPr wrap="none" lIns="0" tIns="0" rIns="0" bIns="0" rtlCol="0" anchor="t"/>
          <a:lstStyle/>
          <a:p>
            <a:pPr algn="l" indent="0" marL="0">
              <a:lnSpc>
                <a:spcPct val="104000"/>
              </a:lnSpc>
              <a:buNone/>
            </a:pPr>
            <a:r>
              <a:rPr lang="en-US" sz="950" dirty="0">
                <a:solidFill>
                  <a:srgbClr val="161613"/>
                </a:solidFill>
                <a:latin typeface="DM Sans Medium" pitchFamily="34" charset="0"/>
                <a:ea typeface="DM Sans Medium" pitchFamily="34" charset="-122"/>
                <a:cs typeface="DM Sans Medium" pitchFamily="34" charset="-120"/>
              </a:rPr>
              <a:t>Dispatcher Override</a:t>
            </a:r>
            <a:endParaRPr lang="en-US" sz="950" dirty="0"/>
          </a:p>
        </p:txBody>
      </p:sp>
      <p:sp>
        <p:nvSpPr>
          <p:cNvPr id="8" name="Text 5"/>
          <p:cNvSpPr/>
          <p:nvPr/>
        </p:nvSpPr>
        <p:spPr>
          <a:xfrm>
            <a:off x="1136472" y="1587912"/>
            <a:ext cx="1932637" cy="247573"/>
          </a:xfrm>
          <a:prstGeom prst="rect">
            <a:avLst/>
          </a:prstGeom>
          <a:noFill/>
          <a:ln/>
        </p:spPr>
        <p:txBody>
          <a:bodyPr wrap="square" lIns="0" tIns="0" rIns="0" bIns="0" rtlCol="0" anchor="t">
            <a:normAutofit/>
          </a:bodyPr>
          <a:lstStyle/>
          <a:p>
            <a:pPr algn="l" indent="0" marL="0">
              <a:lnSpc>
                <a:spcPct val="102000"/>
              </a:lnSpc>
              <a:buNone/>
            </a:pPr>
            <a:r>
              <a:rPr lang="en-US" sz="750" dirty="0">
                <a:solidFill>
                  <a:srgbClr val="161613"/>
                </a:solidFill>
                <a:latin typeface="Inter" pitchFamily="34" charset="0"/>
                <a:ea typeface="Inter" pitchFamily="34" charset="-122"/>
                <a:cs typeface="Inter" pitchFamily="34" charset="-120"/>
              </a:rPr>
              <a:t>Dispatcher inputs ETA and mandatory reason</a:t>
            </a:r>
            <a:endParaRPr lang="en-US" sz="750" dirty="0"/>
          </a:p>
        </p:txBody>
      </p:sp>
      <p:sp>
        <p:nvSpPr>
          <p:cNvPr id="9" name="Text 6"/>
          <p:cNvSpPr/>
          <p:nvPr/>
        </p:nvSpPr>
        <p:spPr>
          <a:xfrm>
            <a:off x="6321961" y="727869"/>
            <a:ext cx="5214609" cy="563066"/>
          </a:xfrm>
          <a:prstGeom prst="rect">
            <a:avLst/>
          </a:prstGeom>
          <a:noFill/>
          <a:ln/>
        </p:spPr>
        <p:txBody>
          <a:bodyPr wrap="none" lIns="0" tIns="0" rIns="0" bIns="0" rtlCol="0" anchor="t"/>
          <a:lstStyle/>
          <a:p>
            <a:pPr algn="l" indent="0" marL="0">
              <a:lnSpc>
                <a:spcPct val="104000"/>
              </a:lnSpc>
              <a:buNone/>
            </a:pPr>
            <a:r>
              <a:rPr lang="en-US" sz="3500" dirty="0">
                <a:solidFill>
                  <a:srgbClr val="161613"/>
                </a:solidFill>
                <a:latin typeface="DM Sans Medium" pitchFamily="34" charset="0"/>
                <a:ea typeface="DM Sans Medium" pitchFamily="34" charset="-122"/>
                <a:cs typeface="DM Sans Medium" pitchFamily="34" charset="-120"/>
              </a:rPr>
              <a:t>Override &amp; Auditability</a:t>
            </a:r>
            <a:endParaRPr lang="en-US" sz="3500" dirty="0"/>
          </a:p>
        </p:txBody>
      </p:sp>
      <p:sp>
        <p:nvSpPr>
          <p:cNvPr id="10" name="Text 7"/>
          <p:cNvSpPr/>
          <p:nvPr/>
        </p:nvSpPr>
        <p:spPr>
          <a:xfrm>
            <a:off x="6321961" y="1462584"/>
            <a:ext cx="5214609" cy="844451"/>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161613"/>
                </a:solidFill>
                <a:latin typeface="Inter" pitchFamily="34" charset="0"/>
                <a:ea typeface="Inter" pitchFamily="34" charset="-122"/>
                <a:cs typeface="Inter" pitchFamily="34" charset="-120"/>
              </a:rPr>
              <a:t>         Overrides are supported but controlled: dispatcher/admin authorization required, reason mandatory, and every override stored in history.       </a:t>
            </a:r>
            <a:endParaRPr lang="en-US" sz="1400" dirty="0"/>
          </a:p>
        </p:txBody>
      </p:sp>
      <p:sp>
        <p:nvSpPr>
          <p:cNvPr id="11" name="Shape 8"/>
          <p:cNvSpPr/>
          <p:nvPr/>
        </p:nvSpPr>
        <p:spPr>
          <a:xfrm>
            <a:off x="6321961" y="2500213"/>
            <a:ext cx="5214609" cy="1243310"/>
          </a:xfrm>
          <a:prstGeom prst="roundRect">
            <a:avLst>
              <a:gd name="adj" fmla="val 2174"/>
            </a:avLst>
          </a:prstGeom>
          <a:solidFill>
            <a:srgbClr val="E3E3E8"/>
          </a:solidFill>
          <a:ln/>
        </p:spPr>
      </p:sp>
      <p:pic>
        <p:nvPicPr>
          <p:cNvPr id="12" name="Image 1" descr="preencoded.png">    </p:cNvPr>
          <p:cNvPicPr>
            <a:picLocks noChangeAspect="1"/>
          </p:cNvPicPr>
          <p:nvPr/>
        </p:nvPicPr>
        <p:blipFill>
          <a:blip r:embed="rId2"/>
          <a:stretch>
            <a:fillRect/>
          </a:stretch>
        </p:blipFill>
        <p:spPr>
          <a:xfrm>
            <a:off x="6502039" y="2762349"/>
            <a:ext cx="225122" cy="180082"/>
          </a:xfrm>
          <a:prstGeom prst="rect">
            <a:avLst/>
          </a:prstGeom>
        </p:spPr>
      </p:pic>
      <p:sp>
        <p:nvSpPr>
          <p:cNvPr id="13" name="Text 9"/>
          <p:cNvSpPr/>
          <p:nvPr/>
        </p:nvSpPr>
        <p:spPr>
          <a:xfrm>
            <a:off x="6907238" y="2699643"/>
            <a:ext cx="4449254" cy="844451"/>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000000"/>
                </a:solidFill>
                <a:latin typeface="Inter" pitchFamily="34" charset="0"/>
                <a:ea typeface="Inter" pitchFamily="34" charset="-122"/>
                <a:cs typeface="Inter" pitchFamily="34" charset="-120"/>
              </a:rPr>
              <a:t>         Accountability: every operational decision is explainable and traceable to support SLAs and dispute resolution.       </a:t>
            </a:r>
            <a:endParaRPr lang="en-US" sz="1400" dirty="0"/>
          </a:p>
        </p:txBody>
      </p:sp>
      <p:pic>
        <p:nvPicPr>
          <p:cNvPr id="14"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4129881"/>
            <a:ext cx="5348551" cy="2171898"/>
          </a:xfrm>
          <a:prstGeom prst="rect">
            <a:avLst/>
          </a:prstGeom>
        </p:spPr>
      </p:pic>
      <p:sp>
        <p:nvSpPr>
          <p:cNvPr id="15" name="Text 10"/>
          <p:cNvSpPr/>
          <p:nvPr/>
        </p:nvSpPr>
        <p:spPr>
          <a:xfrm>
            <a:off x="3200618" y="4256584"/>
            <a:ext cx="270166" cy="337741"/>
          </a:xfrm>
          <a:prstGeom prst="rect">
            <a:avLst/>
          </a:prstGeom>
          <a:noFill/>
          <a:ln/>
        </p:spPr>
        <p:txBody>
          <a:bodyPr wrap="none" lIns="0" tIns="0" rIns="0" bIns="0" rtlCol="0" anchor="ctr"/>
          <a:lstStyle/>
          <a:p>
            <a:pPr algn="ctr" indent="0" marL="0">
              <a:lnSpc>
                <a:spcPct val="100000"/>
              </a:lnSpc>
              <a:buNone/>
            </a:pPr>
            <a:r>
              <a:rPr lang="en-US" sz="2100" dirty="0">
                <a:solidFill>
                  <a:srgbClr val="161613"/>
                </a:solidFill>
                <a:latin typeface="DM Sans Medium" pitchFamily="34" charset="0"/>
                <a:ea typeface="DM Sans Medium" pitchFamily="34" charset="-122"/>
                <a:cs typeface="DM Sans Medium" pitchFamily="34" charset="-120"/>
              </a:rPr>
              <a:t>1</a:t>
            </a:r>
            <a:endParaRPr lang="en-US" sz="2100" dirty="0"/>
          </a:p>
        </p:txBody>
      </p:sp>
      <p:sp>
        <p:nvSpPr>
          <p:cNvPr id="16" name="Text 11"/>
          <p:cNvSpPr/>
          <p:nvPr/>
        </p:nvSpPr>
        <p:spPr>
          <a:xfrm>
            <a:off x="866952" y="4867374"/>
            <a:ext cx="4937597" cy="281484"/>
          </a:xfrm>
          <a:prstGeom prst="rect">
            <a:avLst/>
          </a:prstGeom>
          <a:noFill/>
          <a:ln/>
        </p:spPr>
        <p:txBody>
          <a:bodyPr wrap="none" lIns="0" tIns="0" rIns="0" bIns="0" rtlCol="0" anchor="t"/>
          <a:lstStyle/>
          <a:p>
            <a:pPr algn="l" indent="0" marL="0">
              <a:lnSpc>
                <a:spcPct val="104000"/>
              </a:lnSpc>
              <a:buNone/>
            </a:pPr>
            <a:r>
              <a:rPr lang="en-US" sz="1750" dirty="0">
                <a:solidFill>
                  <a:srgbClr val="161613"/>
                </a:solidFill>
                <a:latin typeface="DM Sans Medium" pitchFamily="34" charset="0"/>
                <a:ea typeface="DM Sans Medium" pitchFamily="34" charset="-122"/>
                <a:cs typeface="DM Sans Medium" pitchFamily="34" charset="-120"/>
              </a:rPr>
              <a:t> Override Policy</a:t>
            </a:r>
            <a:endParaRPr lang="en-US" sz="1750" dirty="0"/>
          </a:p>
        </p:txBody>
      </p:sp>
      <p:sp>
        <p:nvSpPr>
          <p:cNvPr id="17" name="Text 12"/>
          <p:cNvSpPr/>
          <p:nvPr/>
        </p:nvSpPr>
        <p:spPr>
          <a:xfrm>
            <a:off x="866952" y="5251847"/>
            <a:ext cx="4937597" cy="562967"/>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161613"/>
                </a:solidFill>
                <a:latin typeface="Inter" pitchFamily="34" charset="0"/>
                <a:ea typeface="Inter" pitchFamily="34" charset="-122"/>
                <a:cs typeface="Inter" pitchFamily="34" charset="-120"/>
              </a:rPr>
              <a:t>Role-based permissions, mandatory justification, and preview of downstream impacts before commit.</a:t>
            </a:r>
            <a:endParaRPr lang="en-US" sz="1400" dirty="0"/>
          </a:p>
        </p:txBody>
      </p:sp>
      <p:pic>
        <p:nvPicPr>
          <p:cNvPr id="18"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1670" y="4129881"/>
            <a:ext cx="5348551" cy="2171898"/>
          </a:xfrm>
          <a:prstGeom prst="rect">
            <a:avLst/>
          </a:prstGeom>
        </p:spPr>
      </p:pic>
      <p:sp>
        <p:nvSpPr>
          <p:cNvPr id="19" name="Text 13"/>
          <p:cNvSpPr/>
          <p:nvPr/>
        </p:nvSpPr>
        <p:spPr>
          <a:xfrm>
            <a:off x="8720812" y="4256584"/>
            <a:ext cx="270166" cy="337741"/>
          </a:xfrm>
          <a:prstGeom prst="rect">
            <a:avLst/>
          </a:prstGeom>
          <a:noFill/>
          <a:ln/>
        </p:spPr>
        <p:txBody>
          <a:bodyPr wrap="none" lIns="0" tIns="0" rIns="0" bIns="0" rtlCol="0" anchor="ctr"/>
          <a:lstStyle/>
          <a:p>
            <a:pPr algn="ctr" indent="0" marL="0">
              <a:lnSpc>
                <a:spcPct val="100000"/>
              </a:lnSpc>
              <a:buNone/>
            </a:pPr>
            <a:r>
              <a:rPr lang="en-US" sz="2100" dirty="0">
                <a:solidFill>
                  <a:srgbClr val="161613"/>
                </a:solidFill>
                <a:latin typeface="DM Sans Medium" pitchFamily="34" charset="0"/>
                <a:ea typeface="DM Sans Medium" pitchFamily="34" charset="-122"/>
                <a:cs typeface="DM Sans Medium" pitchFamily="34" charset="-120"/>
              </a:rPr>
              <a:t>2</a:t>
            </a:r>
            <a:endParaRPr lang="en-US" sz="2100" dirty="0"/>
          </a:p>
        </p:txBody>
      </p:sp>
      <p:sp>
        <p:nvSpPr>
          <p:cNvPr id="20" name="Text 14"/>
          <p:cNvSpPr/>
          <p:nvPr/>
        </p:nvSpPr>
        <p:spPr>
          <a:xfrm>
            <a:off x="6387146" y="4867374"/>
            <a:ext cx="4937597" cy="281484"/>
          </a:xfrm>
          <a:prstGeom prst="rect">
            <a:avLst/>
          </a:prstGeom>
          <a:noFill/>
          <a:ln/>
        </p:spPr>
        <p:txBody>
          <a:bodyPr wrap="none" lIns="0" tIns="0" rIns="0" bIns="0" rtlCol="0" anchor="t"/>
          <a:lstStyle/>
          <a:p>
            <a:pPr algn="l" indent="0" marL="0">
              <a:lnSpc>
                <a:spcPct val="104000"/>
              </a:lnSpc>
              <a:buNone/>
            </a:pPr>
            <a:r>
              <a:rPr lang="en-US" sz="1750" dirty="0">
                <a:solidFill>
                  <a:srgbClr val="161613"/>
                </a:solidFill>
                <a:latin typeface="DM Sans Medium" pitchFamily="34" charset="0"/>
                <a:ea typeface="DM Sans Medium" pitchFamily="34" charset="-122"/>
                <a:cs typeface="DM Sans Medium" pitchFamily="34" charset="-120"/>
              </a:rPr>
              <a:t> Audit Trail</a:t>
            </a:r>
            <a:endParaRPr lang="en-US" sz="1750" dirty="0"/>
          </a:p>
        </p:txBody>
      </p:sp>
      <p:sp>
        <p:nvSpPr>
          <p:cNvPr id="21" name="Text 15"/>
          <p:cNvSpPr/>
          <p:nvPr/>
        </p:nvSpPr>
        <p:spPr>
          <a:xfrm>
            <a:off x="6387146" y="5251847"/>
            <a:ext cx="4937597" cy="844451"/>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161613"/>
                </a:solidFill>
                <a:latin typeface="Inter" pitchFamily="34" charset="0"/>
                <a:ea typeface="Inter" pitchFamily="34" charset="-122"/>
                <a:cs typeface="Inter" pitchFamily="34" charset="-120"/>
              </a:rPr>
              <a:t>Actor → Action → Entity → Old Value → New Value → Reason → Timestamp — immutable log for reviews and compliance.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87288"/>
            <a:ext cx="10868745" cy="526058"/>
          </a:xfrm>
          <a:prstGeom prst="rect">
            <a:avLst/>
          </a:prstGeom>
          <a:noFill/>
          <a:ln/>
        </p:spPr>
        <p:txBody>
          <a:bodyPr wrap="none" lIns="0" tIns="0" rIns="0" bIns="0" rtlCol="0" anchor="t"/>
          <a:lstStyle/>
          <a:p>
            <a:pPr algn="l" indent="0" marL="0">
              <a:lnSpc>
                <a:spcPct val="104000"/>
              </a:lnSpc>
              <a:buNone/>
            </a:pPr>
            <a:r>
              <a:rPr lang="en-US" sz="3300" dirty="0">
                <a:solidFill>
                  <a:srgbClr val="161613"/>
                </a:solidFill>
                <a:latin typeface="DM Sans Medium" pitchFamily="34" charset="0"/>
                <a:ea typeface="DM Sans Medium" pitchFamily="34" charset="-122"/>
                <a:cs typeface="DM Sans Medium" pitchFamily="34" charset="-120"/>
              </a:rPr>
              <a:t>Testing &amp; Current Progress</a:t>
            </a:r>
            <a:endParaRPr lang="en-US" sz="3300" dirty="0"/>
          </a:p>
        </p:txBody>
      </p:sp>
      <p:sp>
        <p:nvSpPr>
          <p:cNvPr id="3" name="Text 1"/>
          <p:cNvSpPr/>
          <p:nvPr/>
        </p:nvSpPr>
        <p:spPr>
          <a:xfrm>
            <a:off x="661475" y="1597323"/>
            <a:ext cx="3497969" cy="555526"/>
          </a:xfrm>
          <a:prstGeom prst="rect">
            <a:avLst/>
          </a:prstGeom>
          <a:noFill/>
          <a:ln/>
        </p:spPr>
        <p:txBody>
          <a:bodyPr wrap="none" lIns="0" tIns="0" rIns="0" bIns="0" rtlCol="0" anchor="t"/>
          <a:lstStyle/>
          <a:p>
            <a:pPr algn="ctr" indent="0" marL="0">
              <a:lnSpc>
                <a:spcPct val="83000"/>
              </a:lnSpc>
              <a:buNone/>
            </a:pPr>
            <a:r>
              <a:rPr lang="en-US" sz="4350" dirty="0">
                <a:solidFill>
                  <a:srgbClr val="161613"/>
                </a:solidFill>
                <a:latin typeface="DM Sans Medium" pitchFamily="34" charset="0"/>
                <a:ea typeface="DM Sans Medium" pitchFamily="34" charset="-122"/>
                <a:cs typeface="DM Sans Medium" pitchFamily="34" charset="-120"/>
              </a:rPr>
              <a:t>10/10</a:t>
            </a:r>
            <a:endParaRPr lang="en-US" sz="4350" dirty="0"/>
          </a:p>
        </p:txBody>
      </p:sp>
      <p:sp>
        <p:nvSpPr>
          <p:cNvPr id="4" name="Text 2"/>
          <p:cNvSpPr/>
          <p:nvPr/>
        </p:nvSpPr>
        <p:spPr>
          <a:xfrm>
            <a:off x="661475" y="2349401"/>
            <a:ext cx="3497969" cy="263029"/>
          </a:xfrm>
          <a:prstGeom prst="rect">
            <a:avLst/>
          </a:prstGeom>
          <a:noFill/>
          <a:ln/>
        </p:spPr>
        <p:txBody>
          <a:bodyPr wrap="none" lIns="0" tIns="0" rIns="0" bIns="0" rtlCol="0" anchor="t"/>
          <a:lstStyle/>
          <a:p>
            <a:pPr algn="ctr" indent="0" marL="0">
              <a:lnSpc>
                <a:spcPct val="104000"/>
              </a:lnSpc>
              <a:buNone/>
            </a:pPr>
            <a:r>
              <a:rPr lang="en-US" sz="1650" dirty="0">
                <a:solidFill>
                  <a:srgbClr val="161613"/>
                </a:solidFill>
                <a:latin typeface="DM Sans Medium" pitchFamily="34" charset="0"/>
                <a:ea typeface="DM Sans Medium" pitchFamily="34" charset="-122"/>
                <a:cs typeface="DM Sans Medium" pitchFamily="34" charset="-120"/>
              </a:rPr>
              <a:t>Technician Management</a:t>
            </a:r>
            <a:endParaRPr lang="en-US" sz="1650" dirty="0"/>
          </a:p>
        </p:txBody>
      </p:sp>
      <p:sp>
        <p:nvSpPr>
          <p:cNvPr id="5" name="Text 3"/>
          <p:cNvSpPr/>
          <p:nvPr/>
        </p:nvSpPr>
        <p:spPr>
          <a:xfrm>
            <a:off x="661475" y="2702322"/>
            <a:ext cx="3497969" cy="254595"/>
          </a:xfrm>
          <a:prstGeom prst="rect">
            <a:avLst/>
          </a:prstGeom>
          <a:noFill/>
          <a:ln/>
        </p:spPr>
        <p:txBody>
          <a:bodyPr wrap="none" lIns="0" tIns="0" rIns="0" bIns="0" rtlCol="0" anchor="t"/>
          <a:lstStyle/>
          <a:p>
            <a:pPr algn="ctr" indent="0" marL="0">
              <a:lnSpc>
                <a:spcPct val="126000"/>
              </a:lnSpc>
              <a:buNone/>
            </a:pPr>
            <a:r>
              <a:rPr lang="en-US" sz="1300" dirty="0">
                <a:solidFill>
                  <a:srgbClr val="161613"/>
                </a:solidFill>
                <a:latin typeface="Inter" pitchFamily="34" charset="0"/>
                <a:ea typeface="Inter" pitchFamily="34" charset="-122"/>
                <a:cs typeface="Inter" pitchFamily="34" charset="-120"/>
              </a:rPr>
              <a:t>All unit &amp; integration tests passed.</a:t>
            </a:r>
            <a:endParaRPr lang="en-US" sz="1300" dirty="0"/>
          </a:p>
        </p:txBody>
      </p:sp>
      <p:sp>
        <p:nvSpPr>
          <p:cNvPr id="6" name="Text 4"/>
          <p:cNvSpPr/>
          <p:nvPr/>
        </p:nvSpPr>
        <p:spPr>
          <a:xfrm>
            <a:off x="4346764" y="1597323"/>
            <a:ext cx="3498068" cy="555526"/>
          </a:xfrm>
          <a:prstGeom prst="rect">
            <a:avLst/>
          </a:prstGeom>
          <a:noFill/>
          <a:ln/>
        </p:spPr>
        <p:txBody>
          <a:bodyPr wrap="none" lIns="0" tIns="0" rIns="0" bIns="0" rtlCol="0" anchor="t"/>
          <a:lstStyle/>
          <a:p>
            <a:pPr algn="ctr" indent="0" marL="0">
              <a:lnSpc>
                <a:spcPct val="83000"/>
              </a:lnSpc>
              <a:buNone/>
            </a:pPr>
            <a:r>
              <a:rPr lang="en-US" sz="4350" dirty="0">
                <a:solidFill>
                  <a:srgbClr val="161613"/>
                </a:solidFill>
                <a:latin typeface="DM Sans Medium" pitchFamily="34" charset="0"/>
                <a:ea typeface="DM Sans Medium" pitchFamily="34" charset="-122"/>
                <a:cs typeface="DM Sans Medium" pitchFamily="34" charset="-120"/>
              </a:rPr>
              <a:t>12/12</a:t>
            </a:r>
            <a:endParaRPr lang="en-US" sz="4350" dirty="0"/>
          </a:p>
        </p:txBody>
      </p:sp>
      <p:sp>
        <p:nvSpPr>
          <p:cNvPr id="7" name="Text 5"/>
          <p:cNvSpPr/>
          <p:nvPr/>
        </p:nvSpPr>
        <p:spPr>
          <a:xfrm>
            <a:off x="4346764" y="2349401"/>
            <a:ext cx="3498068" cy="263029"/>
          </a:xfrm>
          <a:prstGeom prst="rect">
            <a:avLst/>
          </a:prstGeom>
          <a:noFill/>
          <a:ln/>
        </p:spPr>
        <p:txBody>
          <a:bodyPr wrap="none" lIns="0" tIns="0" rIns="0" bIns="0" rtlCol="0" anchor="t"/>
          <a:lstStyle/>
          <a:p>
            <a:pPr algn="ctr" indent="0" marL="0">
              <a:lnSpc>
                <a:spcPct val="104000"/>
              </a:lnSpc>
              <a:buNone/>
            </a:pPr>
            <a:r>
              <a:rPr lang="en-US" sz="1650" dirty="0">
                <a:solidFill>
                  <a:srgbClr val="161613"/>
                </a:solidFill>
                <a:latin typeface="DM Sans Medium" pitchFamily="34" charset="0"/>
                <a:ea typeface="DM Sans Medium" pitchFamily="34" charset="-122"/>
                <a:cs typeface="DM Sans Medium" pitchFamily="34" charset="-120"/>
              </a:rPr>
              <a:t>Skills Management</a:t>
            </a:r>
            <a:endParaRPr lang="en-US" sz="1650" dirty="0"/>
          </a:p>
        </p:txBody>
      </p:sp>
      <p:sp>
        <p:nvSpPr>
          <p:cNvPr id="8" name="Text 6"/>
          <p:cNvSpPr/>
          <p:nvPr/>
        </p:nvSpPr>
        <p:spPr>
          <a:xfrm>
            <a:off x="4346764" y="2702322"/>
            <a:ext cx="3498068" cy="254595"/>
          </a:xfrm>
          <a:prstGeom prst="rect">
            <a:avLst/>
          </a:prstGeom>
          <a:noFill/>
          <a:ln/>
        </p:spPr>
        <p:txBody>
          <a:bodyPr wrap="none" lIns="0" tIns="0" rIns="0" bIns="0" rtlCol="0" anchor="t"/>
          <a:lstStyle/>
          <a:p>
            <a:pPr algn="ctr" indent="0" marL="0">
              <a:lnSpc>
                <a:spcPct val="126000"/>
              </a:lnSpc>
              <a:buNone/>
            </a:pPr>
            <a:r>
              <a:rPr lang="en-US" sz="1300" dirty="0">
                <a:solidFill>
                  <a:srgbClr val="161613"/>
                </a:solidFill>
                <a:latin typeface="Inter" pitchFamily="34" charset="0"/>
                <a:ea typeface="Inter" pitchFamily="34" charset="-122"/>
                <a:cs typeface="Inter" pitchFamily="34" charset="-120"/>
              </a:rPr>
              <a:t>Complete coverage and validations.</a:t>
            </a:r>
            <a:endParaRPr lang="en-US" sz="1300" dirty="0"/>
          </a:p>
        </p:txBody>
      </p:sp>
      <p:sp>
        <p:nvSpPr>
          <p:cNvPr id="9" name="Text 7"/>
          <p:cNvSpPr/>
          <p:nvPr/>
        </p:nvSpPr>
        <p:spPr>
          <a:xfrm>
            <a:off x="8032152" y="1597323"/>
            <a:ext cx="3498068" cy="555526"/>
          </a:xfrm>
          <a:prstGeom prst="rect">
            <a:avLst/>
          </a:prstGeom>
          <a:noFill/>
          <a:ln/>
        </p:spPr>
        <p:txBody>
          <a:bodyPr wrap="none" lIns="0" tIns="0" rIns="0" bIns="0" rtlCol="0" anchor="t"/>
          <a:lstStyle/>
          <a:p>
            <a:pPr algn="ctr" indent="0" marL="0">
              <a:lnSpc>
                <a:spcPct val="83000"/>
              </a:lnSpc>
              <a:buNone/>
            </a:pPr>
            <a:r>
              <a:rPr lang="en-US" sz="4350" dirty="0">
                <a:solidFill>
                  <a:srgbClr val="161613"/>
                </a:solidFill>
                <a:latin typeface="DM Sans Medium" pitchFamily="34" charset="0"/>
                <a:ea typeface="DM Sans Medium" pitchFamily="34" charset="-122"/>
                <a:cs typeface="DM Sans Medium" pitchFamily="34" charset="-120"/>
              </a:rPr>
              <a:t>15/15</a:t>
            </a:r>
            <a:endParaRPr lang="en-US" sz="4350" dirty="0"/>
          </a:p>
        </p:txBody>
      </p:sp>
      <p:sp>
        <p:nvSpPr>
          <p:cNvPr id="10" name="Text 8"/>
          <p:cNvSpPr/>
          <p:nvPr/>
        </p:nvSpPr>
        <p:spPr>
          <a:xfrm>
            <a:off x="8032152" y="2349401"/>
            <a:ext cx="3498068" cy="263029"/>
          </a:xfrm>
          <a:prstGeom prst="rect">
            <a:avLst/>
          </a:prstGeom>
          <a:noFill/>
          <a:ln/>
        </p:spPr>
        <p:txBody>
          <a:bodyPr wrap="none" lIns="0" tIns="0" rIns="0" bIns="0" rtlCol="0" anchor="t"/>
          <a:lstStyle/>
          <a:p>
            <a:pPr algn="ctr" indent="0" marL="0">
              <a:lnSpc>
                <a:spcPct val="104000"/>
              </a:lnSpc>
              <a:buNone/>
            </a:pPr>
            <a:r>
              <a:rPr lang="en-US" sz="1650" dirty="0">
                <a:solidFill>
                  <a:srgbClr val="161613"/>
                </a:solidFill>
                <a:latin typeface="DM Sans Medium" pitchFamily="34" charset="0"/>
                <a:ea typeface="DM Sans Medium" pitchFamily="34" charset="-122"/>
                <a:cs typeface="DM Sans Medium" pitchFamily="34" charset="-120"/>
              </a:rPr>
              <a:t>Job Execution</a:t>
            </a:r>
            <a:endParaRPr lang="en-US" sz="1650" dirty="0"/>
          </a:p>
        </p:txBody>
      </p:sp>
      <p:sp>
        <p:nvSpPr>
          <p:cNvPr id="11" name="Text 9"/>
          <p:cNvSpPr/>
          <p:nvPr/>
        </p:nvSpPr>
        <p:spPr>
          <a:xfrm>
            <a:off x="8032152" y="2702322"/>
            <a:ext cx="3498068" cy="254595"/>
          </a:xfrm>
          <a:prstGeom prst="rect">
            <a:avLst/>
          </a:prstGeom>
          <a:noFill/>
          <a:ln/>
        </p:spPr>
        <p:txBody>
          <a:bodyPr wrap="none" lIns="0" tIns="0" rIns="0" bIns="0" rtlCol="0" anchor="t"/>
          <a:lstStyle/>
          <a:p>
            <a:pPr algn="ctr" indent="0" marL="0">
              <a:lnSpc>
                <a:spcPct val="126000"/>
              </a:lnSpc>
              <a:buNone/>
            </a:pPr>
            <a:r>
              <a:rPr lang="en-US" sz="1300" dirty="0">
                <a:solidFill>
                  <a:srgbClr val="161613"/>
                </a:solidFill>
                <a:latin typeface="Inter" pitchFamily="34" charset="0"/>
                <a:ea typeface="Inter" pitchFamily="34" charset="-122"/>
                <a:cs typeface="Inter" pitchFamily="34" charset="-120"/>
              </a:rPr>
              <a:t>State transitions and safeguards verified.</a:t>
            </a:r>
            <a:endParaRPr lang="en-US" sz="1300" dirty="0"/>
          </a:p>
        </p:txBody>
      </p:sp>
      <p:sp>
        <p:nvSpPr>
          <p:cNvPr id="12" name="Text 10"/>
          <p:cNvSpPr/>
          <p:nvPr/>
        </p:nvSpPr>
        <p:spPr>
          <a:xfrm>
            <a:off x="2504119" y="3340894"/>
            <a:ext cx="3498068" cy="555526"/>
          </a:xfrm>
          <a:prstGeom prst="rect">
            <a:avLst/>
          </a:prstGeom>
          <a:noFill/>
          <a:ln/>
        </p:spPr>
        <p:txBody>
          <a:bodyPr wrap="none" lIns="0" tIns="0" rIns="0" bIns="0" rtlCol="0" anchor="t"/>
          <a:lstStyle/>
          <a:p>
            <a:pPr algn="ctr" indent="0" marL="0">
              <a:lnSpc>
                <a:spcPct val="83000"/>
              </a:lnSpc>
              <a:buNone/>
            </a:pPr>
            <a:r>
              <a:rPr lang="en-US" sz="4350" dirty="0">
                <a:solidFill>
                  <a:srgbClr val="161613"/>
                </a:solidFill>
                <a:latin typeface="DM Sans Medium" pitchFamily="34" charset="0"/>
                <a:ea typeface="DM Sans Medium" pitchFamily="34" charset="-122"/>
                <a:cs typeface="DM Sans Medium" pitchFamily="34" charset="-120"/>
              </a:rPr>
              <a:t>17/17</a:t>
            </a:r>
            <a:endParaRPr lang="en-US" sz="4350" dirty="0"/>
          </a:p>
        </p:txBody>
      </p:sp>
      <p:sp>
        <p:nvSpPr>
          <p:cNvPr id="13" name="Text 11"/>
          <p:cNvSpPr/>
          <p:nvPr/>
        </p:nvSpPr>
        <p:spPr>
          <a:xfrm>
            <a:off x="2504119" y="4092972"/>
            <a:ext cx="3498068" cy="263029"/>
          </a:xfrm>
          <a:prstGeom prst="rect">
            <a:avLst/>
          </a:prstGeom>
          <a:noFill/>
          <a:ln/>
        </p:spPr>
        <p:txBody>
          <a:bodyPr wrap="none" lIns="0" tIns="0" rIns="0" bIns="0" rtlCol="0" anchor="t"/>
          <a:lstStyle/>
          <a:p>
            <a:pPr algn="ctr" indent="0" marL="0">
              <a:lnSpc>
                <a:spcPct val="104000"/>
              </a:lnSpc>
              <a:buNone/>
            </a:pPr>
            <a:r>
              <a:rPr lang="en-US" sz="1650" dirty="0">
                <a:solidFill>
                  <a:srgbClr val="161613"/>
                </a:solidFill>
                <a:latin typeface="DM Sans Medium" pitchFamily="34" charset="0"/>
                <a:ea typeface="DM Sans Medium" pitchFamily="34" charset="-122"/>
                <a:cs typeface="DM Sans Medium" pitchFamily="34" charset="-120"/>
              </a:rPr>
              <a:t>ETA Engine</a:t>
            </a:r>
            <a:endParaRPr lang="en-US" sz="1650" dirty="0"/>
          </a:p>
        </p:txBody>
      </p:sp>
      <p:sp>
        <p:nvSpPr>
          <p:cNvPr id="14" name="Text 12"/>
          <p:cNvSpPr/>
          <p:nvPr/>
        </p:nvSpPr>
        <p:spPr>
          <a:xfrm>
            <a:off x="2504119" y="4445893"/>
            <a:ext cx="3498068" cy="509191"/>
          </a:xfrm>
          <a:prstGeom prst="rect">
            <a:avLst/>
          </a:prstGeom>
          <a:noFill/>
          <a:ln/>
        </p:spPr>
        <p:txBody>
          <a:bodyPr wrap="square" lIns="0" tIns="0" rIns="0" bIns="0" rtlCol="0" anchor="t">
            <a:normAutofit/>
          </a:bodyPr>
          <a:lstStyle/>
          <a:p>
            <a:pPr algn="ctr" indent="0" marL="0">
              <a:lnSpc>
                <a:spcPct val="126000"/>
              </a:lnSpc>
              <a:buNone/>
            </a:pPr>
            <a:r>
              <a:rPr lang="en-US" sz="1300" dirty="0">
                <a:solidFill>
                  <a:srgbClr val="161613"/>
                </a:solidFill>
                <a:latin typeface="Inter" pitchFamily="34" charset="0"/>
                <a:ea typeface="Inter" pitchFamily="34" charset="-122"/>
                <a:cs typeface="Inter" pitchFamily="34" charset="-120"/>
              </a:rPr>
              <a:t>Baseline and context-adjustment logic unit-tested.</a:t>
            </a:r>
            <a:endParaRPr lang="en-US" sz="1300" dirty="0"/>
          </a:p>
        </p:txBody>
      </p:sp>
      <p:sp>
        <p:nvSpPr>
          <p:cNvPr id="15" name="Text 13"/>
          <p:cNvSpPr/>
          <p:nvPr/>
        </p:nvSpPr>
        <p:spPr>
          <a:xfrm>
            <a:off x="6189508" y="3340894"/>
            <a:ext cx="3497969" cy="555526"/>
          </a:xfrm>
          <a:prstGeom prst="rect">
            <a:avLst/>
          </a:prstGeom>
          <a:noFill/>
          <a:ln/>
        </p:spPr>
        <p:txBody>
          <a:bodyPr wrap="none" lIns="0" tIns="0" rIns="0" bIns="0" rtlCol="0" anchor="t"/>
          <a:lstStyle/>
          <a:p>
            <a:pPr algn="ctr" indent="0" marL="0">
              <a:lnSpc>
                <a:spcPct val="83000"/>
              </a:lnSpc>
              <a:buNone/>
            </a:pPr>
            <a:r>
              <a:rPr lang="en-US" sz="4350" dirty="0">
                <a:solidFill>
                  <a:srgbClr val="161613"/>
                </a:solidFill>
                <a:latin typeface="DM Sans Medium" pitchFamily="34" charset="0"/>
                <a:ea typeface="DM Sans Medium" pitchFamily="34" charset="-122"/>
                <a:cs typeface="DM Sans Medium" pitchFamily="34" charset="-120"/>
              </a:rPr>
              <a:t>0</a:t>
            </a:r>
            <a:endParaRPr lang="en-US" sz="4350" dirty="0"/>
          </a:p>
        </p:txBody>
      </p:sp>
      <p:sp>
        <p:nvSpPr>
          <p:cNvPr id="16" name="Text 14"/>
          <p:cNvSpPr/>
          <p:nvPr/>
        </p:nvSpPr>
        <p:spPr>
          <a:xfrm>
            <a:off x="6189508" y="4092972"/>
            <a:ext cx="3497969" cy="263029"/>
          </a:xfrm>
          <a:prstGeom prst="rect">
            <a:avLst/>
          </a:prstGeom>
          <a:noFill/>
          <a:ln/>
        </p:spPr>
        <p:txBody>
          <a:bodyPr wrap="none" lIns="0" tIns="0" rIns="0" bIns="0" rtlCol="0" anchor="t"/>
          <a:lstStyle/>
          <a:p>
            <a:pPr algn="ctr" indent="0" marL="0">
              <a:lnSpc>
                <a:spcPct val="104000"/>
              </a:lnSpc>
              <a:buNone/>
            </a:pPr>
            <a:r>
              <a:rPr lang="en-US" sz="1650" dirty="0">
                <a:solidFill>
                  <a:srgbClr val="161613"/>
                </a:solidFill>
                <a:latin typeface="DM Sans Medium" pitchFamily="34" charset="0"/>
                <a:ea typeface="DM Sans Medium" pitchFamily="34" charset="-122"/>
                <a:cs typeface="DM Sans Medium" pitchFamily="34" charset="-120"/>
              </a:rPr>
              <a:t>Frontend Type Check</a:t>
            </a:r>
            <a:endParaRPr lang="en-US" sz="1650" dirty="0"/>
          </a:p>
        </p:txBody>
      </p:sp>
      <p:sp>
        <p:nvSpPr>
          <p:cNvPr id="17" name="Text 15"/>
          <p:cNvSpPr/>
          <p:nvPr/>
        </p:nvSpPr>
        <p:spPr>
          <a:xfrm>
            <a:off x="6189508" y="4445893"/>
            <a:ext cx="3497969" cy="254595"/>
          </a:xfrm>
          <a:prstGeom prst="rect">
            <a:avLst/>
          </a:prstGeom>
          <a:noFill/>
          <a:ln/>
        </p:spPr>
        <p:txBody>
          <a:bodyPr wrap="none" lIns="0" tIns="0" rIns="0" bIns="0" rtlCol="0" anchor="t"/>
          <a:lstStyle/>
          <a:p>
            <a:pPr algn="ctr" indent="0" marL="0">
              <a:lnSpc>
                <a:spcPct val="126000"/>
              </a:lnSpc>
              <a:buNone/>
            </a:pPr>
            <a:r>
              <a:rPr lang="en-US" sz="1300" dirty="0">
                <a:solidFill>
                  <a:srgbClr val="161613"/>
                </a:solidFill>
                <a:latin typeface="Inter" pitchFamily="34" charset="0"/>
                <a:ea typeface="Inter" pitchFamily="34" charset="-122"/>
                <a:cs typeface="Inter" pitchFamily="34" charset="-120"/>
              </a:rPr>
              <a:t>TypeScript checks: 0 errors — build-ready.</a:t>
            </a:r>
            <a:endParaRPr lang="en-US" sz="1300" dirty="0"/>
          </a:p>
        </p:txBody>
      </p:sp>
      <p:sp>
        <p:nvSpPr>
          <p:cNvPr id="18" name="Text 16"/>
          <p:cNvSpPr/>
          <p:nvPr/>
        </p:nvSpPr>
        <p:spPr>
          <a:xfrm>
            <a:off x="661475" y="5123755"/>
            <a:ext cx="11478330" cy="254595"/>
          </a:xfrm>
          <a:prstGeom prst="rect">
            <a:avLst/>
          </a:prstGeom>
          <a:noFill/>
          <a:ln/>
        </p:spPr>
        <p:txBody>
          <a:bodyPr wrap="none" lIns="0" tIns="0" rIns="0" bIns="0" rtlCol="0" anchor="t"/>
          <a:lstStyle/>
          <a:p>
            <a:pPr algn="l" indent="0" marL="0">
              <a:lnSpc>
                <a:spcPct val="126000"/>
              </a:lnSpc>
              <a:buNone/>
            </a:pPr>
            <a:r>
              <a:rPr lang="en-US" sz="1300" dirty="0">
                <a:solidFill>
                  <a:srgbClr val="161613"/>
                </a:solidFill>
                <a:latin typeface="Inter" pitchFamily="34" charset="0"/>
                <a:ea typeface="Inter" pitchFamily="34" charset="-122"/>
                <a:cs typeface="Inter" pitchFamily="34" charset="-120"/>
              </a:rPr>
              <a:t>     Demonstrable flow: Authentication → Role Dashboards → Technician/Skills → Job Execution → ETA → Dispatcher Override → Audit.   </a:t>
            </a:r>
            <a:endParaRPr lang="en-US" sz="1300" dirty="0"/>
          </a:p>
        </p:txBody>
      </p:sp>
      <p:sp>
        <p:nvSpPr>
          <p:cNvPr id="19" name="Shape 17"/>
          <p:cNvSpPr/>
          <p:nvPr/>
        </p:nvSpPr>
        <p:spPr>
          <a:xfrm>
            <a:off x="661475" y="5547023"/>
            <a:ext cx="10868745" cy="623590"/>
          </a:xfrm>
          <a:prstGeom prst="roundRect">
            <a:avLst>
              <a:gd name="adj" fmla="val 4049"/>
            </a:avLst>
          </a:prstGeom>
          <a:solidFill>
            <a:srgbClr val="E3E3E8"/>
          </a:solidFill>
          <a:ln/>
        </p:spPr>
      </p:sp>
      <p:pic>
        <p:nvPicPr>
          <p:cNvPr id="20" name="Image 0" descr="preencoded.png">    </p:cNvPr>
          <p:cNvPicPr>
            <a:picLocks noChangeAspect="1"/>
          </p:cNvPicPr>
          <p:nvPr/>
        </p:nvPicPr>
        <p:blipFill>
          <a:blip r:embed="rId1"/>
          <a:stretch>
            <a:fillRect/>
          </a:stretch>
        </p:blipFill>
        <p:spPr>
          <a:xfrm>
            <a:off x="829746" y="5763220"/>
            <a:ext cx="210338" cy="168275"/>
          </a:xfrm>
          <a:prstGeom prst="rect">
            <a:avLst/>
          </a:prstGeom>
        </p:spPr>
      </p:pic>
      <p:sp>
        <p:nvSpPr>
          <p:cNvPr id="21" name="Text 18"/>
          <p:cNvSpPr/>
          <p:nvPr/>
        </p:nvSpPr>
        <p:spPr>
          <a:xfrm>
            <a:off x="1208355" y="5739011"/>
            <a:ext cx="10763179" cy="254595"/>
          </a:xfrm>
          <a:prstGeom prst="rect">
            <a:avLst/>
          </a:prstGeom>
          <a:noFill/>
          <a:ln/>
        </p:spPr>
        <p:txBody>
          <a:bodyPr wrap="none" lIns="0" tIns="0" rIns="0" bIns="0" rtlCol="0" anchor="t"/>
          <a:lstStyle/>
          <a:p>
            <a:pPr algn="l" indent="0" marL="0">
              <a:lnSpc>
                <a:spcPct val="126000"/>
              </a:lnSpc>
              <a:buNone/>
            </a:pPr>
            <a:r>
              <a:rPr lang="en-US" sz="1300" dirty="0">
                <a:solidFill>
                  <a:srgbClr val="000000"/>
                </a:solidFill>
                <a:latin typeface="Inter" pitchFamily="34" charset="0"/>
                <a:ea typeface="Inter" pitchFamily="34" charset="-122"/>
                <a:cs typeface="Inter" pitchFamily="34" charset="-120"/>
              </a:rPr>
              <a:t> Review 1 Progress: ~35% — a working, test-verified foundation ready for real-data integrations and stakeholder validation.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75866"/>
            <a:ext cx="6296860" cy="479921"/>
          </a:xfrm>
          <a:prstGeom prst="rect">
            <a:avLst/>
          </a:prstGeom>
          <a:noFill/>
          <a:ln/>
        </p:spPr>
        <p:txBody>
          <a:bodyPr wrap="none" lIns="0" tIns="0" rIns="0" bIns="0" rtlCol="0" anchor="t"/>
          <a:lstStyle/>
          <a:p>
            <a:pPr algn="l" indent="0" marL="0">
              <a:lnSpc>
                <a:spcPct val="104000"/>
              </a:lnSpc>
              <a:buNone/>
            </a:pPr>
            <a:r>
              <a:rPr lang="en-US" sz="3000" dirty="0">
                <a:solidFill>
                  <a:srgbClr val="161613"/>
                </a:solidFill>
                <a:latin typeface="DM Sans Medium" pitchFamily="34" charset="0"/>
                <a:ea typeface="DM Sans Medium" pitchFamily="34" charset="-122"/>
                <a:cs typeface="DM Sans Medium" pitchFamily="34" charset="-120"/>
              </a:rPr>
              <a:t>Remaining Work &amp; Next Phase</a:t>
            </a:r>
            <a:endParaRPr lang="en-US" sz="3000" dirty="0"/>
          </a:p>
        </p:txBody>
      </p:sp>
      <p:sp>
        <p:nvSpPr>
          <p:cNvPr id="4" name="Shape 1"/>
          <p:cNvSpPr/>
          <p:nvPr/>
        </p:nvSpPr>
        <p:spPr>
          <a:xfrm>
            <a:off x="661475" y="1242913"/>
            <a:ext cx="345471" cy="345480"/>
          </a:xfrm>
          <a:prstGeom prst="roundRect">
            <a:avLst>
              <a:gd name="adj" fmla="val 6668"/>
            </a:avLst>
          </a:prstGeom>
          <a:solidFill>
            <a:srgbClr val="EDEBE3"/>
          </a:solidFill>
          <a:ln/>
        </p:spPr>
      </p:sp>
      <p:sp>
        <p:nvSpPr>
          <p:cNvPr id="5" name="Text 2"/>
          <p:cNvSpPr/>
          <p:nvPr/>
        </p:nvSpPr>
        <p:spPr>
          <a:xfrm>
            <a:off x="719070" y="1271687"/>
            <a:ext cx="230281" cy="287933"/>
          </a:xfrm>
          <a:prstGeom prst="rect">
            <a:avLst/>
          </a:prstGeom>
          <a:noFill/>
          <a:ln/>
        </p:spPr>
        <p:txBody>
          <a:bodyPr wrap="none" lIns="0" tIns="0" rIns="0" bIns="0" rtlCol="0" anchor="ctr"/>
          <a:lstStyle/>
          <a:p>
            <a:pPr algn="ctr" indent="0" marL="0">
              <a:lnSpc>
                <a:spcPct val="100000"/>
              </a:lnSpc>
              <a:buNone/>
            </a:pPr>
            <a:r>
              <a:rPr lang="en-US" sz="1800" dirty="0">
                <a:solidFill>
                  <a:srgbClr val="161613"/>
                </a:solidFill>
                <a:latin typeface="DM Sans Medium" pitchFamily="34" charset="0"/>
                <a:ea typeface="DM Sans Medium" pitchFamily="34" charset="-122"/>
                <a:cs typeface="DM Sans Medium" pitchFamily="34" charset="-120"/>
              </a:rPr>
              <a:t>1</a:t>
            </a:r>
            <a:endParaRPr lang="en-US" sz="1800" dirty="0"/>
          </a:p>
        </p:txBody>
      </p:sp>
      <p:sp>
        <p:nvSpPr>
          <p:cNvPr id="6" name="Text 3"/>
          <p:cNvSpPr/>
          <p:nvPr/>
        </p:nvSpPr>
        <p:spPr>
          <a:xfrm>
            <a:off x="1131661" y="1295698"/>
            <a:ext cx="5826674" cy="239911"/>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Integrations</a:t>
            </a:r>
            <a:endParaRPr lang="en-US" sz="1500" dirty="0"/>
          </a:p>
        </p:txBody>
      </p:sp>
      <p:sp>
        <p:nvSpPr>
          <p:cNvPr id="7" name="Text 4"/>
          <p:cNvSpPr/>
          <p:nvPr/>
        </p:nvSpPr>
        <p:spPr>
          <a:xfrm>
            <a:off x="1131661" y="1610420"/>
            <a:ext cx="5826674" cy="222647"/>
          </a:xfrm>
          <a:prstGeom prst="rect">
            <a:avLst/>
          </a:prstGeom>
          <a:noFill/>
          <a:ln/>
        </p:spPr>
        <p:txBody>
          <a:bodyPr wrap="none" lIns="0" tIns="0" rIns="0" bIns="0" rtlCol="0" anchor="t"/>
          <a:lstStyle/>
          <a:p>
            <a:pPr algn="l" indent="0" marL="0">
              <a:lnSpc>
                <a:spcPct val="121000"/>
              </a:lnSpc>
              <a:buNone/>
            </a:pPr>
            <a:r>
              <a:rPr lang="en-US" sz="1200" dirty="0">
                <a:solidFill>
                  <a:srgbClr val="161613"/>
                </a:solidFill>
                <a:latin typeface="Inter" pitchFamily="34" charset="0"/>
                <a:ea typeface="Inter" pitchFamily="34" charset="-122"/>
                <a:cs typeface="Inter" pitchFamily="34" charset="-120"/>
              </a:rPr>
              <a:t>Live traffic, event feeds, and road-restriction data; real road-network routing.</a:t>
            </a:r>
            <a:endParaRPr lang="en-US" sz="1200" dirty="0"/>
          </a:p>
        </p:txBody>
      </p:sp>
      <p:sp>
        <p:nvSpPr>
          <p:cNvPr id="8" name="Shape 5"/>
          <p:cNvSpPr/>
          <p:nvPr/>
        </p:nvSpPr>
        <p:spPr>
          <a:xfrm>
            <a:off x="661475" y="2082602"/>
            <a:ext cx="345471" cy="345480"/>
          </a:xfrm>
          <a:prstGeom prst="roundRect">
            <a:avLst>
              <a:gd name="adj" fmla="val 6668"/>
            </a:avLst>
          </a:prstGeom>
          <a:solidFill>
            <a:srgbClr val="EDEBE3"/>
          </a:solidFill>
          <a:ln/>
        </p:spPr>
      </p:sp>
      <p:sp>
        <p:nvSpPr>
          <p:cNvPr id="9" name="Text 6"/>
          <p:cNvSpPr/>
          <p:nvPr/>
        </p:nvSpPr>
        <p:spPr>
          <a:xfrm>
            <a:off x="719070" y="2111375"/>
            <a:ext cx="230281" cy="287933"/>
          </a:xfrm>
          <a:prstGeom prst="rect">
            <a:avLst/>
          </a:prstGeom>
          <a:noFill/>
          <a:ln/>
        </p:spPr>
        <p:txBody>
          <a:bodyPr wrap="none" lIns="0" tIns="0" rIns="0" bIns="0" rtlCol="0" anchor="ctr"/>
          <a:lstStyle/>
          <a:p>
            <a:pPr algn="ctr" indent="0" marL="0">
              <a:lnSpc>
                <a:spcPct val="100000"/>
              </a:lnSpc>
              <a:buNone/>
            </a:pPr>
            <a:r>
              <a:rPr lang="en-US" sz="1800" dirty="0">
                <a:solidFill>
                  <a:srgbClr val="161613"/>
                </a:solidFill>
                <a:latin typeface="DM Sans Medium" pitchFamily="34" charset="0"/>
                <a:ea typeface="DM Sans Medium" pitchFamily="34" charset="-122"/>
                <a:cs typeface="DM Sans Medium" pitchFamily="34" charset="-120"/>
              </a:rPr>
              <a:t>2</a:t>
            </a:r>
            <a:endParaRPr lang="en-US" sz="1800" dirty="0"/>
          </a:p>
        </p:txBody>
      </p:sp>
      <p:sp>
        <p:nvSpPr>
          <p:cNvPr id="10" name="Text 7"/>
          <p:cNvSpPr/>
          <p:nvPr/>
        </p:nvSpPr>
        <p:spPr>
          <a:xfrm>
            <a:off x="1131661" y="2135386"/>
            <a:ext cx="5826674" cy="239911"/>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Validation</a:t>
            </a:r>
            <a:endParaRPr lang="en-US" sz="1500" dirty="0"/>
          </a:p>
        </p:txBody>
      </p:sp>
      <p:sp>
        <p:nvSpPr>
          <p:cNvPr id="11" name="Text 8"/>
          <p:cNvSpPr/>
          <p:nvPr/>
        </p:nvSpPr>
        <p:spPr>
          <a:xfrm>
            <a:off x="1131661" y="2450108"/>
            <a:ext cx="5826674" cy="445294"/>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161613"/>
                </a:solidFill>
                <a:latin typeface="Inter" pitchFamily="34" charset="0"/>
                <a:ea typeface="Inter" pitchFamily="34" charset="-122"/>
                <a:cs typeface="Inter" pitchFamily="34" charset="-120"/>
              </a:rPr>
              <a:t>Baseline vs Context ETA experiments with historical data; non-routine error analysis; 3+ failure scenario tests.</a:t>
            </a:r>
            <a:endParaRPr lang="en-US" sz="1200" dirty="0"/>
          </a:p>
        </p:txBody>
      </p:sp>
      <p:sp>
        <p:nvSpPr>
          <p:cNvPr id="12" name="Shape 9"/>
          <p:cNvSpPr/>
          <p:nvPr/>
        </p:nvSpPr>
        <p:spPr>
          <a:xfrm>
            <a:off x="661475" y="3144937"/>
            <a:ext cx="345471" cy="345480"/>
          </a:xfrm>
          <a:prstGeom prst="roundRect">
            <a:avLst>
              <a:gd name="adj" fmla="val 6668"/>
            </a:avLst>
          </a:prstGeom>
          <a:solidFill>
            <a:srgbClr val="EDEBE3"/>
          </a:solidFill>
          <a:ln/>
        </p:spPr>
      </p:sp>
      <p:sp>
        <p:nvSpPr>
          <p:cNvPr id="13" name="Text 10"/>
          <p:cNvSpPr/>
          <p:nvPr/>
        </p:nvSpPr>
        <p:spPr>
          <a:xfrm>
            <a:off x="719070" y="3173710"/>
            <a:ext cx="230281" cy="287933"/>
          </a:xfrm>
          <a:prstGeom prst="rect">
            <a:avLst/>
          </a:prstGeom>
          <a:noFill/>
          <a:ln/>
        </p:spPr>
        <p:txBody>
          <a:bodyPr wrap="none" lIns="0" tIns="0" rIns="0" bIns="0" rtlCol="0" anchor="ctr"/>
          <a:lstStyle/>
          <a:p>
            <a:pPr algn="ctr" indent="0" marL="0">
              <a:lnSpc>
                <a:spcPct val="100000"/>
              </a:lnSpc>
              <a:buNone/>
            </a:pPr>
            <a:r>
              <a:rPr lang="en-US" sz="1800" dirty="0">
                <a:solidFill>
                  <a:srgbClr val="161613"/>
                </a:solidFill>
                <a:latin typeface="DM Sans Medium" pitchFamily="34" charset="0"/>
                <a:ea typeface="DM Sans Medium" pitchFamily="34" charset="-122"/>
                <a:cs typeface="DM Sans Medium" pitchFamily="34" charset="-120"/>
              </a:rPr>
              <a:t>3</a:t>
            </a:r>
            <a:endParaRPr lang="en-US" sz="1800" dirty="0"/>
          </a:p>
        </p:txBody>
      </p:sp>
      <p:sp>
        <p:nvSpPr>
          <p:cNvPr id="14" name="Text 11"/>
          <p:cNvSpPr/>
          <p:nvPr/>
        </p:nvSpPr>
        <p:spPr>
          <a:xfrm>
            <a:off x="1131661" y="3197721"/>
            <a:ext cx="5826674" cy="239911"/>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Stabilization</a:t>
            </a:r>
            <a:endParaRPr lang="en-US" sz="1500" dirty="0"/>
          </a:p>
        </p:txBody>
      </p:sp>
      <p:sp>
        <p:nvSpPr>
          <p:cNvPr id="15" name="Text 12"/>
          <p:cNvSpPr/>
          <p:nvPr/>
        </p:nvSpPr>
        <p:spPr>
          <a:xfrm>
            <a:off x="1131661" y="3512443"/>
            <a:ext cx="5826674" cy="445294"/>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161613"/>
                </a:solidFill>
                <a:latin typeface="Inter" pitchFamily="34" charset="0"/>
                <a:ea typeface="Inter" pitchFamily="34" charset="-122"/>
                <a:cs typeface="Inter" pitchFamily="34" charset="-120"/>
              </a:rPr>
              <a:t>Unified end-to-end dispatch pipeline, user/stakeholder validation, final regression testing.</a:t>
            </a:r>
            <a:endParaRPr lang="en-US" sz="1200" dirty="0"/>
          </a:p>
        </p:txBody>
      </p:sp>
      <p:sp>
        <p:nvSpPr>
          <p:cNvPr id="16" name="Shape 13"/>
          <p:cNvSpPr/>
          <p:nvPr/>
        </p:nvSpPr>
        <p:spPr>
          <a:xfrm>
            <a:off x="661475" y="4207272"/>
            <a:ext cx="345471" cy="345480"/>
          </a:xfrm>
          <a:prstGeom prst="roundRect">
            <a:avLst>
              <a:gd name="adj" fmla="val 6668"/>
            </a:avLst>
          </a:prstGeom>
          <a:solidFill>
            <a:srgbClr val="EDEBE3"/>
          </a:solidFill>
          <a:ln/>
        </p:spPr>
      </p:sp>
      <p:sp>
        <p:nvSpPr>
          <p:cNvPr id="17" name="Text 14"/>
          <p:cNvSpPr/>
          <p:nvPr/>
        </p:nvSpPr>
        <p:spPr>
          <a:xfrm>
            <a:off x="719070" y="4236045"/>
            <a:ext cx="230281" cy="287933"/>
          </a:xfrm>
          <a:prstGeom prst="rect">
            <a:avLst/>
          </a:prstGeom>
          <a:noFill/>
          <a:ln/>
        </p:spPr>
        <p:txBody>
          <a:bodyPr wrap="none" lIns="0" tIns="0" rIns="0" bIns="0" rtlCol="0" anchor="ctr"/>
          <a:lstStyle/>
          <a:p>
            <a:pPr algn="ctr" indent="0" marL="0">
              <a:lnSpc>
                <a:spcPct val="100000"/>
              </a:lnSpc>
              <a:buNone/>
            </a:pPr>
            <a:r>
              <a:rPr lang="en-US" sz="1800" dirty="0">
                <a:solidFill>
                  <a:srgbClr val="161613"/>
                </a:solidFill>
                <a:latin typeface="DM Sans Medium" pitchFamily="34" charset="0"/>
                <a:ea typeface="DM Sans Medium" pitchFamily="34" charset="-122"/>
                <a:cs typeface="DM Sans Medium" pitchFamily="34" charset="-120"/>
              </a:rPr>
              <a:t>4</a:t>
            </a:r>
            <a:endParaRPr lang="en-US" sz="1800" dirty="0"/>
          </a:p>
        </p:txBody>
      </p:sp>
      <p:sp>
        <p:nvSpPr>
          <p:cNvPr id="18" name="Text 15"/>
          <p:cNvSpPr/>
          <p:nvPr/>
        </p:nvSpPr>
        <p:spPr>
          <a:xfrm>
            <a:off x="1131661" y="4260056"/>
            <a:ext cx="5826674" cy="239911"/>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Production Readiness</a:t>
            </a:r>
            <a:endParaRPr lang="en-US" sz="1500" dirty="0"/>
          </a:p>
        </p:txBody>
      </p:sp>
      <p:sp>
        <p:nvSpPr>
          <p:cNvPr id="19" name="Text 16"/>
          <p:cNvSpPr/>
          <p:nvPr/>
        </p:nvSpPr>
        <p:spPr>
          <a:xfrm>
            <a:off x="1131661" y="4574778"/>
            <a:ext cx="5826674" cy="445294"/>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161613"/>
                </a:solidFill>
                <a:latin typeface="Inter" pitchFamily="34" charset="0"/>
                <a:ea typeface="Inter" pitchFamily="34" charset="-122"/>
                <a:cs typeface="Inter" pitchFamily="34" charset="-120"/>
              </a:rPr>
              <a:t>Deployment automation, monitoring, SLA instrumentation, and handoff plan for operations.</a:t>
            </a:r>
            <a:endParaRPr lang="en-US" sz="1200" dirty="0"/>
          </a:p>
        </p:txBody>
      </p:sp>
      <p:sp>
        <p:nvSpPr>
          <p:cNvPr id="20" name="Text 17"/>
          <p:cNvSpPr/>
          <p:nvPr/>
        </p:nvSpPr>
        <p:spPr>
          <a:xfrm>
            <a:off x="661475" y="5160367"/>
            <a:ext cx="6296860" cy="445294"/>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161613"/>
                </a:solidFill>
                <a:latin typeface="Inter" pitchFamily="34" charset="0"/>
                <a:ea typeface="Inter" pitchFamily="34" charset="-122"/>
                <a:cs typeface="Inter" pitchFamily="34" charset="-120"/>
              </a:rPr>
              <a:t>     Road to completion: Working foundation → Real data integration → Measured ETA performance → Complete dispatch workflow → Production-ready FieldOps AI.   </a:t>
            </a:r>
            <a:endParaRPr lang="en-US" sz="1200" dirty="0"/>
          </a:p>
        </p:txBody>
      </p:sp>
      <p:sp>
        <p:nvSpPr>
          <p:cNvPr id="21" name="Shape 18"/>
          <p:cNvSpPr/>
          <p:nvPr/>
        </p:nvSpPr>
        <p:spPr>
          <a:xfrm>
            <a:off x="661475" y="5745956"/>
            <a:ext cx="6296860" cy="536178"/>
          </a:xfrm>
          <a:prstGeom prst="roundRect">
            <a:avLst>
              <a:gd name="adj" fmla="val 4296"/>
            </a:avLst>
          </a:prstGeom>
          <a:solidFill>
            <a:srgbClr val="E3E3E8"/>
          </a:solidFill>
          <a:ln/>
        </p:spPr>
      </p:sp>
      <p:pic>
        <p:nvPicPr>
          <p:cNvPr id="22" name="Image 1" descr="preencoded.png">    </p:cNvPr>
          <p:cNvPicPr>
            <a:picLocks noChangeAspect="1"/>
          </p:cNvPicPr>
          <p:nvPr/>
        </p:nvPicPr>
        <p:blipFill>
          <a:blip r:embed="rId2"/>
          <a:stretch>
            <a:fillRect/>
          </a:stretch>
        </p:blipFill>
        <p:spPr>
          <a:xfrm>
            <a:off x="814962" y="5927030"/>
            <a:ext cx="191884" cy="153491"/>
          </a:xfrm>
          <a:prstGeom prst="rect">
            <a:avLst/>
          </a:prstGeom>
        </p:spPr>
      </p:pic>
      <p:sp>
        <p:nvSpPr>
          <p:cNvPr id="23" name="Text 19"/>
          <p:cNvSpPr/>
          <p:nvPr/>
        </p:nvSpPr>
        <p:spPr>
          <a:xfrm>
            <a:off x="1160334" y="5908973"/>
            <a:ext cx="6254097" cy="222647"/>
          </a:xfrm>
          <a:prstGeom prst="rect">
            <a:avLst/>
          </a:prstGeom>
          <a:noFill/>
          <a:ln/>
        </p:spPr>
        <p:txBody>
          <a:bodyPr wrap="none" lIns="0" tIns="0" rIns="0" bIns="0" rtlCol="0" anchor="t"/>
          <a:lstStyle/>
          <a:p>
            <a:pPr algn="l" indent="0" marL="0">
              <a:lnSpc>
                <a:spcPct val="121000"/>
              </a:lnSpc>
              <a:buNone/>
            </a:pPr>
            <a:r>
              <a:rPr lang="en-US" sz="1200" dirty="0">
                <a:solidFill>
                  <a:srgbClr val="000000"/>
                </a:solidFill>
                <a:latin typeface="Inter" pitchFamily="34" charset="0"/>
                <a:ea typeface="Inter" pitchFamily="34" charset="-122"/>
                <a:cs typeface="Inter" pitchFamily="34" charset="-120"/>
              </a:rPr>
              <a:t> Thank you — ready for questions and the next milestone planning session.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2026-09-04T09:31:36Z</dcterms:created>
  <dcterms:modified xsi:type="dcterms:W3CDTF">2026-09-04T09:31:36Z</dcterms:modified>
</cp:coreProperties>
</file>